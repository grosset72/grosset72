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1" r:id="rId1"/>
  </p:sldMasterIdLst>
  <p:notesMasterIdLst>
    <p:notesMasterId r:id="rId26"/>
  </p:notesMasterIdLst>
  <p:sldIdLst>
    <p:sldId id="256" r:id="rId2"/>
    <p:sldId id="257" r:id="rId3"/>
    <p:sldId id="263" r:id="rId4"/>
    <p:sldId id="265" r:id="rId5"/>
    <p:sldId id="268" r:id="rId6"/>
    <p:sldId id="267" r:id="rId7"/>
    <p:sldId id="269" r:id="rId8"/>
    <p:sldId id="272" r:id="rId9"/>
    <p:sldId id="271" r:id="rId10"/>
    <p:sldId id="270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</p:sldIdLst>
  <p:sldSz cx="9144000" cy="6858000" type="screen4x3"/>
  <p:notesSz cx="6858000" cy="9144000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58"/>
  </p:normalViewPr>
  <p:slideViewPr>
    <p:cSldViewPr>
      <p:cViewPr varScale="1">
        <p:scale>
          <a:sx n="101" d="100"/>
          <a:sy n="101" d="100"/>
        </p:scale>
        <p:origin x="18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00"/>
    </p:cViewPr>
  </p:sorterViewPr>
  <p:notesViewPr>
    <p:cSldViewPr>
      <p:cViewPr varScale="1">
        <p:scale>
          <a:sx n="55" d="100"/>
          <a:sy n="55" d="100"/>
        </p:scale>
        <p:origin x="-189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A0D93A7-F01B-1D25-06AE-1E958DA6620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it-IT" altLang="it-IT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F1903E4F-8FC2-F82A-3A92-AA977CCD180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it-IT" altLang="it-IT"/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3CF1779D-C263-DFBC-7AAB-0337BDBE62D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DB296D74-674D-AAF9-0850-D68EFE0C6A3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9C53A1B8-3BC3-0BDD-2040-C9F839E2909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it-IT" altLang="it-IT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B7E7F003-4FE2-0E55-DC90-371AEA957E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177D152-2700-4644-BDDE-8D9B860FB93E}" type="slidenum">
              <a:rPr lang="it-IT" altLang="it-IT"/>
              <a:pPr/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80E2CBB-3DE7-017B-2CB4-8691F4CDA5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3F166A-354C-2243-B3A9-FBE074717E31}" type="slidenum">
              <a:rPr lang="it-IT" altLang="it-IT"/>
              <a:pPr/>
              <a:t>3</a:t>
            </a:fld>
            <a:endParaRPr lang="it-IT" altLang="it-IT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2AAD321C-4A9A-563C-42E5-4EF4D8AB03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0B44B5E5-E625-4898-094C-46B7ABFCB8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Line 2">
            <a:extLst>
              <a:ext uri="{FF2B5EF4-FFF2-40B4-BE49-F238E27FC236}">
                <a16:creationId xmlns:a16="http://schemas.microsoft.com/office/drawing/2014/main" id="{F78B1BE6-381A-5E29-A9CD-FCBDB21F9EC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20D77214-1D69-3B6C-AEB3-C0A6C36DC2B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it-IT" altLang="en-US" noProof="0"/>
              <a:t>Fare clic per modificare lo stile del titolo</a:t>
            </a:r>
          </a:p>
        </p:txBody>
      </p:sp>
      <p:sp>
        <p:nvSpPr>
          <p:cNvPr id="86020" name="Rectangle 4">
            <a:extLst>
              <a:ext uri="{FF2B5EF4-FFF2-40B4-BE49-F238E27FC236}">
                <a16:creationId xmlns:a16="http://schemas.microsoft.com/office/drawing/2014/main" id="{8960054E-950F-2DEE-223B-FC95100790B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pPr lvl="0"/>
            <a:r>
              <a:rPr lang="it-IT" altLang="en-US" noProof="0"/>
              <a:t>Fare clic per modificare lo stile del sottotitolo dello schema</a:t>
            </a:r>
          </a:p>
        </p:txBody>
      </p:sp>
      <p:sp>
        <p:nvSpPr>
          <p:cNvPr id="86021" name="Rectangle 5">
            <a:extLst>
              <a:ext uri="{FF2B5EF4-FFF2-40B4-BE49-F238E27FC236}">
                <a16:creationId xmlns:a16="http://schemas.microsoft.com/office/drawing/2014/main" id="{1A240C61-C7D9-778B-5EE0-3A7BB49805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en-US"/>
          </a:p>
        </p:txBody>
      </p:sp>
      <p:sp>
        <p:nvSpPr>
          <p:cNvPr id="86022" name="Rectangle 6">
            <a:extLst>
              <a:ext uri="{FF2B5EF4-FFF2-40B4-BE49-F238E27FC236}">
                <a16:creationId xmlns:a16="http://schemas.microsoft.com/office/drawing/2014/main" id="{153CF0D1-4C42-D567-E443-F54471B5E38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en-US"/>
          </a:p>
        </p:txBody>
      </p:sp>
      <p:sp>
        <p:nvSpPr>
          <p:cNvPr id="86023" name="Rectangle 7">
            <a:extLst>
              <a:ext uri="{FF2B5EF4-FFF2-40B4-BE49-F238E27FC236}">
                <a16:creationId xmlns:a16="http://schemas.microsoft.com/office/drawing/2014/main" id="{9BE807BD-1C4D-7170-56DF-86BFCABDDC8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2DA8B19E-54C8-E94E-8CEE-4655433B294A}" type="slidenum">
              <a:rPr lang="it-IT" altLang="en-US"/>
              <a:pPr/>
              <a:t>‹N›</a:t>
            </a:fld>
            <a:endParaRPr lang="it-IT" altLang="en-US"/>
          </a:p>
        </p:txBody>
      </p:sp>
      <p:grpSp>
        <p:nvGrpSpPr>
          <p:cNvPr id="86024" name="Group 8">
            <a:extLst>
              <a:ext uri="{FF2B5EF4-FFF2-40B4-BE49-F238E27FC236}">
                <a16:creationId xmlns:a16="http://schemas.microsoft.com/office/drawing/2014/main" id="{72F7F30F-26A6-3D29-E907-4ACEAA9959CA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86025" name="Oval 9">
              <a:extLst>
                <a:ext uri="{FF2B5EF4-FFF2-40B4-BE49-F238E27FC236}">
                  <a16:creationId xmlns:a16="http://schemas.microsoft.com/office/drawing/2014/main" id="{96569CC5-177C-7D52-2155-E649E1187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26" name="Oval 10">
              <a:extLst>
                <a:ext uri="{FF2B5EF4-FFF2-40B4-BE49-F238E27FC236}">
                  <a16:creationId xmlns:a16="http://schemas.microsoft.com/office/drawing/2014/main" id="{E290F478-3760-A4FE-2C65-E35E1943B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27" name="Oval 11">
              <a:extLst>
                <a:ext uri="{FF2B5EF4-FFF2-40B4-BE49-F238E27FC236}">
                  <a16:creationId xmlns:a16="http://schemas.microsoft.com/office/drawing/2014/main" id="{0C85CFE7-DBD1-8D5D-71F4-F98C94F95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28" name="Oval 12">
              <a:extLst>
                <a:ext uri="{FF2B5EF4-FFF2-40B4-BE49-F238E27FC236}">
                  <a16:creationId xmlns:a16="http://schemas.microsoft.com/office/drawing/2014/main" id="{2239F12A-CC57-9213-2DCD-AF02FA61C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29" name="Oval 13">
              <a:extLst>
                <a:ext uri="{FF2B5EF4-FFF2-40B4-BE49-F238E27FC236}">
                  <a16:creationId xmlns:a16="http://schemas.microsoft.com/office/drawing/2014/main" id="{93EB2FE6-13A6-8644-FBA3-C84E4840DD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30" name="Oval 14">
              <a:extLst>
                <a:ext uri="{FF2B5EF4-FFF2-40B4-BE49-F238E27FC236}">
                  <a16:creationId xmlns:a16="http://schemas.microsoft.com/office/drawing/2014/main" id="{49B8D8D9-39FC-34EB-B533-F2B3171680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31" name="Oval 15">
              <a:extLst>
                <a:ext uri="{FF2B5EF4-FFF2-40B4-BE49-F238E27FC236}">
                  <a16:creationId xmlns:a16="http://schemas.microsoft.com/office/drawing/2014/main" id="{24B544BA-0F4D-38F3-D01C-330B31271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32" name="Oval 16">
              <a:extLst>
                <a:ext uri="{FF2B5EF4-FFF2-40B4-BE49-F238E27FC236}">
                  <a16:creationId xmlns:a16="http://schemas.microsoft.com/office/drawing/2014/main" id="{84B2A219-607D-68C4-FEC0-55C11DE9B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33" name="Oval 17">
              <a:extLst>
                <a:ext uri="{FF2B5EF4-FFF2-40B4-BE49-F238E27FC236}">
                  <a16:creationId xmlns:a16="http://schemas.microsoft.com/office/drawing/2014/main" id="{5060FF9E-98DB-6846-65B9-61B338F92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34" name="Oval 18">
              <a:extLst>
                <a:ext uri="{FF2B5EF4-FFF2-40B4-BE49-F238E27FC236}">
                  <a16:creationId xmlns:a16="http://schemas.microsoft.com/office/drawing/2014/main" id="{39DB474F-8D09-7C80-C729-CC55E7288B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35" name="Oval 19">
              <a:extLst>
                <a:ext uri="{FF2B5EF4-FFF2-40B4-BE49-F238E27FC236}">
                  <a16:creationId xmlns:a16="http://schemas.microsoft.com/office/drawing/2014/main" id="{8C33A00C-FD67-B6B0-3331-BB7FEBD04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36" name="Oval 20">
              <a:extLst>
                <a:ext uri="{FF2B5EF4-FFF2-40B4-BE49-F238E27FC236}">
                  <a16:creationId xmlns:a16="http://schemas.microsoft.com/office/drawing/2014/main" id="{7454CBD9-22CE-B8DC-68E5-43E391176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37" name="Oval 21">
              <a:extLst>
                <a:ext uri="{FF2B5EF4-FFF2-40B4-BE49-F238E27FC236}">
                  <a16:creationId xmlns:a16="http://schemas.microsoft.com/office/drawing/2014/main" id="{1F54A10A-4077-D35D-00F6-C73FD5BCEF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38" name="Oval 22">
              <a:extLst>
                <a:ext uri="{FF2B5EF4-FFF2-40B4-BE49-F238E27FC236}">
                  <a16:creationId xmlns:a16="http://schemas.microsoft.com/office/drawing/2014/main" id="{ABC3F05B-74BE-2F8B-CB0E-DD2D15726B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39" name="Oval 23">
              <a:extLst>
                <a:ext uri="{FF2B5EF4-FFF2-40B4-BE49-F238E27FC236}">
                  <a16:creationId xmlns:a16="http://schemas.microsoft.com/office/drawing/2014/main" id="{F345EB57-8F31-4602-7659-B59042F7A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40" name="Oval 24">
              <a:extLst>
                <a:ext uri="{FF2B5EF4-FFF2-40B4-BE49-F238E27FC236}">
                  <a16:creationId xmlns:a16="http://schemas.microsoft.com/office/drawing/2014/main" id="{28FAAB1F-7F3D-7C2C-4C30-D01B53083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41" name="Oval 25">
              <a:extLst>
                <a:ext uri="{FF2B5EF4-FFF2-40B4-BE49-F238E27FC236}">
                  <a16:creationId xmlns:a16="http://schemas.microsoft.com/office/drawing/2014/main" id="{A592481E-8B4C-0D1C-4BD7-D88CC72AA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42" name="Oval 26">
              <a:extLst>
                <a:ext uri="{FF2B5EF4-FFF2-40B4-BE49-F238E27FC236}">
                  <a16:creationId xmlns:a16="http://schemas.microsoft.com/office/drawing/2014/main" id="{FAA1C50B-7AE7-B465-9C14-EC0F46143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43" name="Oval 27">
              <a:extLst>
                <a:ext uri="{FF2B5EF4-FFF2-40B4-BE49-F238E27FC236}">
                  <a16:creationId xmlns:a16="http://schemas.microsoft.com/office/drawing/2014/main" id="{884FE0E1-D81C-DFCA-8DB5-850DC0881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44" name="Oval 28">
              <a:extLst>
                <a:ext uri="{FF2B5EF4-FFF2-40B4-BE49-F238E27FC236}">
                  <a16:creationId xmlns:a16="http://schemas.microsoft.com/office/drawing/2014/main" id="{27B679D2-89AD-0E1C-B463-E0A853270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45" name="Oval 29">
              <a:extLst>
                <a:ext uri="{FF2B5EF4-FFF2-40B4-BE49-F238E27FC236}">
                  <a16:creationId xmlns:a16="http://schemas.microsoft.com/office/drawing/2014/main" id="{D62CBEFB-D9C7-EFE9-4B48-1CD2558463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46" name="Oval 30">
              <a:extLst>
                <a:ext uri="{FF2B5EF4-FFF2-40B4-BE49-F238E27FC236}">
                  <a16:creationId xmlns:a16="http://schemas.microsoft.com/office/drawing/2014/main" id="{49BD3DA0-C3AD-C559-7D83-29CF2FCBA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47" name="Oval 31">
              <a:extLst>
                <a:ext uri="{FF2B5EF4-FFF2-40B4-BE49-F238E27FC236}">
                  <a16:creationId xmlns:a16="http://schemas.microsoft.com/office/drawing/2014/main" id="{2D779532-28ED-3915-75CB-688D3C6DB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48" name="Oval 32">
              <a:extLst>
                <a:ext uri="{FF2B5EF4-FFF2-40B4-BE49-F238E27FC236}">
                  <a16:creationId xmlns:a16="http://schemas.microsoft.com/office/drawing/2014/main" id="{528B32DD-5057-CE58-7F26-7561E250E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49" name="Oval 33">
              <a:extLst>
                <a:ext uri="{FF2B5EF4-FFF2-40B4-BE49-F238E27FC236}">
                  <a16:creationId xmlns:a16="http://schemas.microsoft.com/office/drawing/2014/main" id="{6F621C67-C65B-4725-311B-0EBF8940C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50" name="Oval 34">
              <a:extLst>
                <a:ext uri="{FF2B5EF4-FFF2-40B4-BE49-F238E27FC236}">
                  <a16:creationId xmlns:a16="http://schemas.microsoft.com/office/drawing/2014/main" id="{C52AF894-9ACE-C285-7C75-29D250BF7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51" name="Oval 35">
              <a:extLst>
                <a:ext uri="{FF2B5EF4-FFF2-40B4-BE49-F238E27FC236}">
                  <a16:creationId xmlns:a16="http://schemas.microsoft.com/office/drawing/2014/main" id="{5ACCE476-7E83-8735-AE2D-C1ABB6733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52" name="Oval 36">
              <a:extLst>
                <a:ext uri="{FF2B5EF4-FFF2-40B4-BE49-F238E27FC236}">
                  <a16:creationId xmlns:a16="http://schemas.microsoft.com/office/drawing/2014/main" id="{3FDA5EB6-637E-360D-193B-88FBFF884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53" name="Oval 37">
              <a:extLst>
                <a:ext uri="{FF2B5EF4-FFF2-40B4-BE49-F238E27FC236}">
                  <a16:creationId xmlns:a16="http://schemas.microsoft.com/office/drawing/2014/main" id="{23505F30-F76E-7FA0-1636-C23F37B46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54" name="Oval 38">
              <a:extLst>
                <a:ext uri="{FF2B5EF4-FFF2-40B4-BE49-F238E27FC236}">
                  <a16:creationId xmlns:a16="http://schemas.microsoft.com/office/drawing/2014/main" id="{4883FCE0-1D30-E679-8FF6-984D87C95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6055" name="Oval 39">
              <a:extLst>
                <a:ext uri="{FF2B5EF4-FFF2-40B4-BE49-F238E27FC236}">
                  <a16:creationId xmlns:a16="http://schemas.microsoft.com/office/drawing/2014/main" id="{4D1807F1-6397-ECEA-F39A-122B9E7AC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86056" name="Line 40">
            <a:extLst>
              <a:ext uri="{FF2B5EF4-FFF2-40B4-BE49-F238E27FC236}">
                <a16:creationId xmlns:a16="http://schemas.microsoft.com/office/drawing/2014/main" id="{85DE2CD1-15DC-0641-EF3A-BCB9154FDC9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 spd="med">
    <p:split dir="in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35C1C3-A0CA-C4D1-0FB8-780944B43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7786324-95FB-53EE-1E1D-8ACB0223D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113EED9-7611-BE96-05CE-56FD5CDC3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68FE572-6836-CCC1-0ACC-941F2FEFC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6409F9-60B6-89E5-7F29-BA8ED0ACA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B1B42-EDCE-974B-9CF2-A622B04DEA8D}" type="slidenum">
              <a:rPr lang="it-IT" altLang="en-US"/>
              <a:pPr/>
              <a:t>‹N›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3664512235"/>
      </p:ext>
    </p:extLst>
  </p:cSld>
  <p:clrMapOvr>
    <a:masterClrMapping/>
  </p:clrMapOvr>
  <p:transition spd="med">
    <p:split dir="in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52B202-C0B6-20DB-FD8E-175BFA9AE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92F9A3D-A722-3BD4-557D-FD7FD1634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D544DB5-DC2A-A785-9DD7-B1C548DB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00BA8A1-84A1-2D91-27B2-8661FBB6A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3DEFA7D-FC97-69A0-491C-5023D5251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512D6E-76F2-9A41-9A6C-8973B2CA274F}" type="slidenum">
              <a:rPr lang="it-IT" altLang="en-US"/>
              <a:pPr/>
              <a:t>‹N›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1910275695"/>
      </p:ext>
    </p:extLst>
  </p:cSld>
  <p:clrMapOvr>
    <a:masterClrMapping/>
  </p:clrMapOvr>
  <p:transition spd="med">
    <p:split dir="in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DC0B9F-7727-B343-570B-8011D269C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B5266AD-9E57-B80B-745C-17CB2DB8E4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DAF6AFA-A570-37C1-1DFD-D2842384B0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871DCD-12C7-A741-3443-9318EDDFA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7F65548-929F-2F8A-7016-BB379B6BD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D3C4B40-54C7-6573-3F94-E7F8537FD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D5BC08-9DFE-1242-8265-7455F550989D}" type="slidenum">
              <a:rPr lang="it-IT" altLang="en-US"/>
              <a:pPr/>
              <a:t>‹N›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503085519"/>
      </p:ext>
    </p:extLst>
  </p:cSld>
  <p:clrMapOvr>
    <a:masterClrMapping/>
  </p:clrMapOvr>
  <p:transition spd="med">
    <p:split dir="in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ECDBF0-74B9-BC24-480D-5E25ACACD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D365BCE-2E7D-E0A5-57D2-7EF378DCE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BE113A9-2CA4-3FB7-D53E-4DEE5BDCC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C1B7979-BCBA-E6C0-205D-6FA2EE5A07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120DF09-58D7-9E13-6052-DB9C373D32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72F8339-4EDB-2FAB-CA4F-FA79A132F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2869D46-2BAC-72CA-E120-DF941874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5A4888BC-1A41-23A4-F920-97370296A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001A74-9C06-8840-83AB-5ED5104C0AD9}" type="slidenum">
              <a:rPr lang="it-IT" altLang="en-US"/>
              <a:pPr/>
              <a:t>‹N›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2549515714"/>
      </p:ext>
    </p:extLst>
  </p:cSld>
  <p:clrMapOvr>
    <a:masterClrMapping/>
  </p:clrMapOvr>
  <p:transition spd="med">
    <p:split dir="in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5DC9C1-78EC-037C-1B8C-650B946B8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BB67FB7-C3B3-EAC2-E632-519AA7127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E2D98D-0837-CC89-AE66-9DD8E3AE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1641F0E-A0E4-0349-7ABE-A4B9B8480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9E013C-B457-B142-A49B-A9D2132F3636}" type="slidenum">
              <a:rPr lang="it-IT" altLang="en-US"/>
              <a:pPr/>
              <a:t>‹N›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3232218113"/>
      </p:ext>
    </p:extLst>
  </p:cSld>
  <p:clrMapOvr>
    <a:masterClrMapping/>
  </p:clrMapOvr>
  <p:transition spd="med">
    <p:split dir="in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13B035F-3051-8A8C-B7E8-46793F3A1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470929D-B56D-7471-95DE-BADD1E61E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B77A42F-B9A5-691B-E3D8-09F3855CF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C62284-838C-6947-84DE-82497D030B5E}" type="slidenum">
              <a:rPr lang="it-IT" altLang="en-US"/>
              <a:pPr/>
              <a:t>‹N›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3502295781"/>
      </p:ext>
    </p:extLst>
  </p:cSld>
  <p:clrMapOvr>
    <a:masterClrMapping/>
  </p:clrMapOvr>
  <p:transition spd="med">
    <p:split dir="in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DCC53F-AE18-A614-732B-DC8ACA266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3775D61-5CBF-6DF1-C64A-44951FAE0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8DE663F-7A2A-C445-3A4B-94647A3AE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086AD26-97C9-EEA9-2EE9-757E036FB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7AB6C69-A172-D351-54CE-F75ACC9E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8E021D0-3998-77A3-4949-4CC479A7E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CD489-79F1-8E4A-BE2C-8B09FF546E5D}" type="slidenum">
              <a:rPr lang="it-IT" altLang="en-US"/>
              <a:pPr/>
              <a:t>‹N›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1794059536"/>
      </p:ext>
    </p:extLst>
  </p:cSld>
  <p:clrMapOvr>
    <a:masterClrMapping/>
  </p:clrMapOvr>
  <p:transition spd="med">
    <p:split dir="in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9DC1A0-4E67-9865-81F9-40B352637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18245D0-F11A-5379-C867-13FFA1646B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6150B31-5261-4EE9-B796-678D148EB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A4552E0-9916-35CC-CC3E-0C7B04F06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C8B9ED4-AE6D-9432-F9F6-5BFC94028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E9516B9-53F4-4FB9-481D-AB8FFE6A7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8A1C0E-00A8-5C4D-ABC1-EECD17EA0352}" type="slidenum">
              <a:rPr lang="it-IT" altLang="en-US"/>
              <a:pPr/>
              <a:t>‹N›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1289410003"/>
      </p:ext>
    </p:extLst>
  </p:cSld>
  <p:clrMapOvr>
    <a:masterClrMapping/>
  </p:clrMapOvr>
  <p:transition spd="med">
    <p:split dir="in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A87DF7-4971-3D5D-7076-440BB9E04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2D11416-8947-728A-6D63-567B43460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7249EE5-C6E5-7CBC-A958-1223B81B3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B1D0E37-7E58-3909-B704-18DD59857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CA20D8-C02D-F13E-5FEB-FE490749D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910009-408C-224F-BD85-3361E4272552}" type="slidenum">
              <a:rPr lang="it-IT" altLang="en-US"/>
              <a:pPr/>
              <a:t>‹N›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1933894347"/>
      </p:ext>
    </p:extLst>
  </p:cSld>
  <p:clrMapOvr>
    <a:masterClrMapping/>
  </p:clrMapOvr>
  <p:transition spd="med">
    <p:split dir="in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E237FEC-0073-4396-5158-8D0A17C8CE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1AB03C3-C530-6C1D-35F3-5A73AC8CC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7D7E8A9-C062-F951-DF7A-5AFF74148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A3C2C7-54E2-E74C-BF2E-F6B2B2522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it-IT" alt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D34BA77-ED40-87AA-F1E3-E414E324C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90A693-59AB-784A-B648-A3A6174BB17C}" type="slidenum">
              <a:rPr lang="it-IT" altLang="en-US"/>
              <a:pPr/>
              <a:t>‹N›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2854120416"/>
      </p:ext>
    </p:extLst>
  </p:cSld>
  <p:clrMapOvr>
    <a:masterClrMapping/>
  </p:clrMapOvr>
  <p:transition spd="med">
    <p:split dir="in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olo, contenut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CA1FCE-060A-896E-63B2-AD7977C55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2C1669-1466-704D-EC14-A1689406CD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2BB9750-F8DE-35EF-03AD-826C8BC05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230A83D-692D-4338-22EE-72395C3266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it-IT" alt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A5FEF1F-A274-853E-A772-D858776EF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it-IT" alt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8D337E0-3C9F-F3FB-A397-9079A95B5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7CF5D09E-8611-434F-AACE-AB6AA0275CA0}" type="slidenum">
              <a:rPr lang="it-IT" altLang="en-US"/>
              <a:pPr/>
              <a:t>‹N›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3348150641"/>
      </p:ext>
    </p:extLst>
  </p:cSld>
  <p:clrMapOvr>
    <a:masterClrMapping/>
  </p:clrMapOvr>
  <p:transition spd="med">
    <p:split dir="in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7C29C3-EC5D-7461-C292-F50FF1755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1E14F5A-F306-BF09-E93D-7841E60D702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414E426-5520-11A2-9A0D-445F4CEF9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C24E14D-6B7B-9643-98E6-53F0A8F0EB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it-IT" alt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4A4C060-500A-5CB9-AC9D-A5B523A49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it-IT" alt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F44A732-2B57-F986-8EEE-3B66F0AD9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B2A2A8DC-1FB1-9A46-8122-2985E28F7EFC}" type="slidenum">
              <a:rPr lang="it-IT" altLang="en-US"/>
              <a:pPr/>
              <a:t>‹N›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3449282944"/>
      </p:ext>
    </p:extLst>
  </p:cSld>
  <p:clrMapOvr>
    <a:masterClrMapping/>
  </p:clrMapOvr>
  <p:transition spd="med">
    <p:split dir="in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olo e 2 contenuti sopra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B11494-7D72-9AB7-978D-7C99A35D9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9AB11B6-7432-E111-8D23-BDB7C35AAB8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719263"/>
            <a:ext cx="4038600" cy="2128837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75CF458-207C-EFB7-9ED0-AE7E850C79AB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198C218-110A-D5FE-5395-13CC2444F747}"/>
              </a:ext>
            </a:extLst>
          </p:cNvPr>
          <p:cNvSpPr>
            <a:spLocks noGrp="1"/>
          </p:cNvSpPr>
          <p:nvPr>
            <p:ph type="body" sz="half" idx="3"/>
          </p:nvPr>
        </p:nvSpPr>
        <p:spPr>
          <a:xfrm>
            <a:off x="457200" y="4000500"/>
            <a:ext cx="8229600" cy="2130425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7D34C22E-B29D-D09D-041F-9DA5109AF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it-IT" altLang="en-US"/>
          </a:p>
        </p:txBody>
      </p:sp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242F65A7-7274-F4E2-6B7A-274C2C61B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it-IT" altLang="en-US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CC098073-8A1D-FD32-D172-631642CA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F5CC97DE-8C0F-A04F-994F-7DBDFA3ADC63}" type="slidenum">
              <a:rPr lang="it-IT" altLang="en-US"/>
              <a:pPr/>
              <a:t>‹N›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2898317421"/>
      </p:ext>
    </p:extLst>
  </p:cSld>
  <p:clrMapOvr>
    <a:masterClrMapping/>
  </p:clrMapOvr>
  <p:transition spd="med">
    <p:split dir="in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Line 2">
            <a:extLst>
              <a:ext uri="{FF2B5EF4-FFF2-40B4-BE49-F238E27FC236}">
                <a16:creationId xmlns:a16="http://schemas.microsoft.com/office/drawing/2014/main" id="{15280AC4-EF64-EB51-0B19-4F164B722AA3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1BA8777B-8172-AB46-D771-87FE050C1B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en-US"/>
              <a:t>Fare clic per modificare lo stile del titolo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2738C2C6-B138-6067-4A9E-BD453F926E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en-US"/>
              <a:t>Fare clic per modificare gli stili del testo dello schema</a:t>
            </a:r>
          </a:p>
          <a:p>
            <a:pPr lvl="1"/>
            <a:r>
              <a:rPr lang="it-IT" altLang="en-US"/>
              <a:t>Secondo livello</a:t>
            </a:r>
          </a:p>
          <a:p>
            <a:pPr lvl="2"/>
            <a:r>
              <a:rPr lang="it-IT" altLang="en-US"/>
              <a:t>Terzo livello</a:t>
            </a:r>
          </a:p>
          <a:p>
            <a:pPr lvl="3"/>
            <a:r>
              <a:rPr lang="it-IT" altLang="en-US"/>
              <a:t>Quarto livello</a:t>
            </a:r>
          </a:p>
          <a:p>
            <a:pPr lvl="4"/>
            <a:r>
              <a:rPr lang="it-IT" altLang="en-US"/>
              <a:t>Quinto livello</a:t>
            </a:r>
          </a:p>
        </p:txBody>
      </p:sp>
      <p:sp>
        <p:nvSpPr>
          <p:cNvPr id="84997" name="Rectangle 5">
            <a:extLst>
              <a:ext uri="{FF2B5EF4-FFF2-40B4-BE49-F238E27FC236}">
                <a16:creationId xmlns:a16="http://schemas.microsoft.com/office/drawing/2014/main" id="{4503C8DF-BB91-DE05-1101-AD7C9D84A9E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endParaRPr lang="it-IT" altLang="en-US"/>
          </a:p>
        </p:txBody>
      </p:sp>
      <p:sp>
        <p:nvSpPr>
          <p:cNvPr id="84998" name="Rectangle 6">
            <a:extLst>
              <a:ext uri="{FF2B5EF4-FFF2-40B4-BE49-F238E27FC236}">
                <a16:creationId xmlns:a16="http://schemas.microsoft.com/office/drawing/2014/main" id="{995B02F7-23EA-BCB3-2E53-370A0D6F5AC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endParaRPr lang="it-IT" altLang="en-US"/>
          </a:p>
        </p:txBody>
      </p:sp>
      <p:sp>
        <p:nvSpPr>
          <p:cNvPr id="84999" name="Rectangle 7">
            <a:extLst>
              <a:ext uri="{FF2B5EF4-FFF2-40B4-BE49-F238E27FC236}">
                <a16:creationId xmlns:a16="http://schemas.microsoft.com/office/drawing/2014/main" id="{82C437B3-D901-280A-97A2-59B892089C5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C54BD73E-DCC0-C34E-AE93-3C9E0D843323}" type="slidenum">
              <a:rPr lang="it-IT" altLang="en-US"/>
              <a:pPr/>
              <a:t>‹N›</a:t>
            </a:fld>
            <a:endParaRPr lang="it-IT" altLang="en-US"/>
          </a:p>
        </p:txBody>
      </p:sp>
      <p:grpSp>
        <p:nvGrpSpPr>
          <p:cNvPr id="85000" name="Group 8">
            <a:extLst>
              <a:ext uri="{FF2B5EF4-FFF2-40B4-BE49-F238E27FC236}">
                <a16:creationId xmlns:a16="http://schemas.microsoft.com/office/drawing/2014/main" id="{0F9E1A33-4D2E-2871-CBC8-FBB1C24341D3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85001" name="Oval 9">
              <a:extLst>
                <a:ext uri="{FF2B5EF4-FFF2-40B4-BE49-F238E27FC236}">
                  <a16:creationId xmlns:a16="http://schemas.microsoft.com/office/drawing/2014/main" id="{F66E0C37-3915-EE3B-90FF-B64EDE193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02" name="Oval 10">
              <a:extLst>
                <a:ext uri="{FF2B5EF4-FFF2-40B4-BE49-F238E27FC236}">
                  <a16:creationId xmlns:a16="http://schemas.microsoft.com/office/drawing/2014/main" id="{14B4A575-AA84-B974-1E1E-3FEF08051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03" name="Oval 11">
              <a:extLst>
                <a:ext uri="{FF2B5EF4-FFF2-40B4-BE49-F238E27FC236}">
                  <a16:creationId xmlns:a16="http://schemas.microsoft.com/office/drawing/2014/main" id="{8E683B94-A9F8-4DB7-4437-D2AD94A60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04" name="Oval 12">
              <a:extLst>
                <a:ext uri="{FF2B5EF4-FFF2-40B4-BE49-F238E27FC236}">
                  <a16:creationId xmlns:a16="http://schemas.microsoft.com/office/drawing/2014/main" id="{BBFFB3E3-7143-B0AD-7493-F41E0E13C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05" name="Oval 13">
              <a:extLst>
                <a:ext uri="{FF2B5EF4-FFF2-40B4-BE49-F238E27FC236}">
                  <a16:creationId xmlns:a16="http://schemas.microsoft.com/office/drawing/2014/main" id="{D14508DE-3A62-B891-A5C7-1FF4259B4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06" name="Oval 14">
              <a:extLst>
                <a:ext uri="{FF2B5EF4-FFF2-40B4-BE49-F238E27FC236}">
                  <a16:creationId xmlns:a16="http://schemas.microsoft.com/office/drawing/2014/main" id="{D085D030-1890-75AB-12B4-D33945CE3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07" name="Oval 15">
              <a:extLst>
                <a:ext uri="{FF2B5EF4-FFF2-40B4-BE49-F238E27FC236}">
                  <a16:creationId xmlns:a16="http://schemas.microsoft.com/office/drawing/2014/main" id="{E4F80DD4-9AE5-EBFD-9B31-363DA9FEA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08" name="Oval 16">
              <a:extLst>
                <a:ext uri="{FF2B5EF4-FFF2-40B4-BE49-F238E27FC236}">
                  <a16:creationId xmlns:a16="http://schemas.microsoft.com/office/drawing/2014/main" id="{1A517C0D-B3BF-46F6-2330-922C1278E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09" name="Oval 17">
              <a:extLst>
                <a:ext uri="{FF2B5EF4-FFF2-40B4-BE49-F238E27FC236}">
                  <a16:creationId xmlns:a16="http://schemas.microsoft.com/office/drawing/2014/main" id="{E1258F46-3534-815F-18EC-F696FBC92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10" name="Oval 18">
              <a:extLst>
                <a:ext uri="{FF2B5EF4-FFF2-40B4-BE49-F238E27FC236}">
                  <a16:creationId xmlns:a16="http://schemas.microsoft.com/office/drawing/2014/main" id="{DDC19D7D-E674-65D4-E5F6-06A240DDE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11" name="Oval 19">
              <a:extLst>
                <a:ext uri="{FF2B5EF4-FFF2-40B4-BE49-F238E27FC236}">
                  <a16:creationId xmlns:a16="http://schemas.microsoft.com/office/drawing/2014/main" id="{63FE57D0-59D2-8B6A-3F6D-F0A848F0A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12" name="Oval 20">
              <a:extLst>
                <a:ext uri="{FF2B5EF4-FFF2-40B4-BE49-F238E27FC236}">
                  <a16:creationId xmlns:a16="http://schemas.microsoft.com/office/drawing/2014/main" id="{8686ECD5-4D8C-4D19-BB4B-8292DB2E2E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13" name="Oval 21">
              <a:extLst>
                <a:ext uri="{FF2B5EF4-FFF2-40B4-BE49-F238E27FC236}">
                  <a16:creationId xmlns:a16="http://schemas.microsoft.com/office/drawing/2014/main" id="{E5F6CE32-CD9E-5398-BC2B-CAB21D7B1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14" name="Oval 22">
              <a:extLst>
                <a:ext uri="{FF2B5EF4-FFF2-40B4-BE49-F238E27FC236}">
                  <a16:creationId xmlns:a16="http://schemas.microsoft.com/office/drawing/2014/main" id="{6A25F41A-BBEA-49AF-FB95-4134E03B73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15" name="Oval 23">
              <a:extLst>
                <a:ext uri="{FF2B5EF4-FFF2-40B4-BE49-F238E27FC236}">
                  <a16:creationId xmlns:a16="http://schemas.microsoft.com/office/drawing/2014/main" id="{056A8575-41A3-F0D1-4CA9-5D3A47AE5A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16" name="Oval 24">
              <a:extLst>
                <a:ext uri="{FF2B5EF4-FFF2-40B4-BE49-F238E27FC236}">
                  <a16:creationId xmlns:a16="http://schemas.microsoft.com/office/drawing/2014/main" id="{1577FF6E-3486-37A8-405C-F0561998C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17" name="Oval 25">
              <a:extLst>
                <a:ext uri="{FF2B5EF4-FFF2-40B4-BE49-F238E27FC236}">
                  <a16:creationId xmlns:a16="http://schemas.microsoft.com/office/drawing/2014/main" id="{05D8F1DF-7843-E7D1-FE58-5FF503863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18" name="Oval 26">
              <a:extLst>
                <a:ext uri="{FF2B5EF4-FFF2-40B4-BE49-F238E27FC236}">
                  <a16:creationId xmlns:a16="http://schemas.microsoft.com/office/drawing/2014/main" id="{447BFC45-3F44-D7D3-9893-416A38E13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19" name="Oval 27">
              <a:extLst>
                <a:ext uri="{FF2B5EF4-FFF2-40B4-BE49-F238E27FC236}">
                  <a16:creationId xmlns:a16="http://schemas.microsoft.com/office/drawing/2014/main" id="{7AF463D1-CA7C-14ED-704A-6F8CEA35C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20" name="Oval 28">
              <a:extLst>
                <a:ext uri="{FF2B5EF4-FFF2-40B4-BE49-F238E27FC236}">
                  <a16:creationId xmlns:a16="http://schemas.microsoft.com/office/drawing/2014/main" id="{89E04F09-B24A-CB72-EF13-6EBDB7BDE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21" name="Oval 29">
              <a:extLst>
                <a:ext uri="{FF2B5EF4-FFF2-40B4-BE49-F238E27FC236}">
                  <a16:creationId xmlns:a16="http://schemas.microsoft.com/office/drawing/2014/main" id="{913D9791-FF7F-6024-1655-92724EE4D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22" name="Oval 30">
              <a:extLst>
                <a:ext uri="{FF2B5EF4-FFF2-40B4-BE49-F238E27FC236}">
                  <a16:creationId xmlns:a16="http://schemas.microsoft.com/office/drawing/2014/main" id="{4A471DC8-8FF7-4DED-DF4E-15F4626D9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23" name="Oval 31">
              <a:extLst>
                <a:ext uri="{FF2B5EF4-FFF2-40B4-BE49-F238E27FC236}">
                  <a16:creationId xmlns:a16="http://schemas.microsoft.com/office/drawing/2014/main" id="{42D66E68-03CE-E59F-40AB-6BBF630C0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24" name="Oval 32">
              <a:extLst>
                <a:ext uri="{FF2B5EF4-FFF2-40B4-BE49-F238E27FC236}">
                  <a16:creationId xmlns:a16="http://schemas.microsoft.com/office/drawing/2014/main" id="{CB25D62E-3D16-B66E-32EB-C79FFCF8AC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25" name="Oval 33">
              <a:extLst>
                <a:ext uri="{FF2B5EF4-FFF2-40B4-BE49-F238E27FC236}">
                  <a16:creationId xmlns:a16="http://schemas.microsoft.com/office/drawing/2014/main" id="{D6EBED31-635A-DFC7-9782-0F717164D4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26" name="Oval 34">
              <a:extLst>
                <a:ext uri="{FF2B5EF4-FFF2-40B4-BE49-F238E27FC236}">
                  <a16:creationId xmlns:a16="http://schemas.microsoft.com/office/drawing/2014/main" id="{427263D5-6116-7372-AE01-C92DD0C58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27" name="Oval 35">
              <a:extLst>
                <a:ext uri="{FF2B5EF4-FFF2-40B4-BE49-F238E27FC236}">
                  <a16:creationId xmlns:a16="http://schemas.microsoft.com/office/drawing/2014/main" id="{E2B70ED7-78EE-D05A-52AE-D25D55593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28" name="Oval 36">
              <a:extLst>
                <a:ext uri="{FF2B5EF4-FFF2-40B4-BE49-F238E27FC236}">
                  <a16:creationId xmlns:a16="http://schemas.microsoft.com/office/drawing/2014/main" id="{5AB3A7ED-1557-FA7A-15AF-78F0C4CBD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29" name="Oval 37">
              <a:extLst>
                <a:ext uri="{FF2B5EF4-FFF2-40B4-BE49-F238E27FC236}">
                  <a16:creationId xmlns:a16="http://schemas.microsoft.com/office/drawing/2014/main" id="{8BD74795-168B-DFBD-14AB-362B912F7E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30" name="Oval 38">
              <a:extLst>
                <a:ext uri="{FF2B5EF4-FFF2-40B4-BE49-F238E27FC236}">
                  <a16:creationId xmlns:a16="http://schemas.microsoft.com/office/drawing/2014/main" id="{30B6E61C-61E6-626A-B403-BA235D3AC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5031" name="Oval 39">
              <a:extLst>
                <a:ext uri="{FF2B5EF4-FFF2-40B4-BE49-F238E27FC236}">
                  <a16:creationId xmlns:a16="http://schemas.microsoft.com/office/drawing/2014/main" id="{35624BBD-4B7D-6AE9-C614-AF559B49B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</p:sldLayoutIdLst>
  <p:transition spd="med">
    <p:split dir="in"/>
  </p:transition>
  <p:txStyles>
    <p:titleStyle>
      <a:lvl1pPr algn="l" rtl="0" fontAlgn="base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7" Type="http://schemas.openxmlformats.org/officeDocument/2006/relationships/image" Target="../media/image8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7.emf"/><Relationship Id="rId4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11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9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4.png"/><Relationship Id="rId4" Type="http://schemas.openxmlformats.org/officeDocument/2006/relationships/oleObject" Target="../embeddings/oleObject1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oleObject" Target="../embeddings/oleObject16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oleObject" Target="../embeddings/oleObject18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25.png"/><Relationship Id="rId5" Type="http://schemas.openxmlformats.org/officeDocument/2006/relationships/image" Target="../media/image22.png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8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B2608BD-4DB7-321A-1DA1-27A43F6DE21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it-IT" altLang="it-IT">
                <a:latin typeface="Times New Roman" panose="02020603050405020304" pitchFamily="18" charset="0"/>
              </a:rPr>
              <a:t>Asset allocation razionale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721A1A0-D573-DBFA-5C18-45E39BB7BE7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altLang="it-IT">
                <a:solidFill>
                  <a:schemeClr val="tx2"/>
                </a:solidFill>
                <a:latin typeface="Times New Roman" panose="02020603050405020304" pitchFamily="18" charset="0"/>
              </a:rPr>
              <a:t>Luca </a:t>
            </a:r>
            <a:r>
              <a:rPr lang="it-IT" altLang="it-IT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Grosset</a:t>
            </a:r>
            <a:endParaRPr lang="it-IT" altLang="it-IT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CA03782-D244-061C-FAF6-290EB97A60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15962"/>
          </a:xfrm>
        </p:spPr>
        <p:txBody>
          <a:bodyPr/>
          <a:lstStyle/>
          <a:p>
            <a:r>
              <a:rPr lang="it-IT" altLang="it-IT" sz="3500">
                <a:latin typeface="Times New Roman" panose="02020603050405020304" pitchFamily="18" charset="0"/>
              </a:rPr>
              <a:t>H. Markowitz (Nobel Economia 1990)</a:t>
            </a: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76FF9AD0-390C-39ED-F321-767C27848E8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346575" y="1719263"/>
            <a:ext cx="4340225" cy="4411662"/>
          </a:xfrm>
        </p:spPr>
        <p:txBody>
          <a:bodyPr/>
          <a:lstStyle/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it-IT" altLang="it-IT" sz="2700">
                <a:latin typeface="Times New Roman" panose="02020603050405020304" pitchFamily="18" charset="0"/>
              </a:rPr>
              <a:t>L’investitore razionale… 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it-IT" altLang="it-IT" sz="2700">
              <a:latin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it-IT" altLang="it-IT" sz="2700">
                <a:latin typeface="Times New Roman" panose="02020603050405020304" pitchFamily="18" charset="0"/>
              </a:rPr>
              <a:t>come l’unicorno…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it-IT" altLang="it-IT" sz="2700">
              <a:latin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it-IT" altLang="it-IT" sz="2700">
                <a:latin typeface="Times New Roman" panose="02020603050405020304" pitchFamily="18" charset="0"/>
              </a:rPr>
              <a:t>non esiste!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it-IT" altLang="it-IT" sz="2700">
              <a:latin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it-IT" altLang="it-IT" sz="2700">
              <a:latin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altLang="it-IT" sz="1500">
                <a:latin typeface="Times New Roman" panose="02020603050405020304" pitchFamily="18" charset="0"/>
              </a:rPr>
              <a:t>Markowitz HM (1959)  </a:t>
            </a:r>
            <a:r>
              <a:rPr lang="en-US" altLang="it-IT" sz="1500" i="1">
                <a:latin typeface="Times New Roman" panose="02020603050405020304" pitchFamily="18" charset="0"/>
              </a:rPr>
              <a:t>Portfolio Selection. Efficient Diversification of Investments</a:t>
            </a:r>
            <a:r>
              <a:rPr lang="en-US" altLang="it-IT" sz="1500">
                <a:latin typeface="Times New Roman" panose="02020603050405020304" pitchFamily="18" charset="0"/>
              </a:rPr>
              <a:t>, John Wiley &amp; Sons, New York.</a:t>
            </a:r>
            <a:r>
              <a:rPr lang="en-US" altLang="it-IT" sz="150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endParaRPr lang="it-IT" altLang="it-IT" sz="15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AF1C1DAA-6B90-AD20-C6BA-B2D47A5F8CA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1793875"/>
            <a:ext cx="2882900" cy="3937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0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0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0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C163738-E5E3-0933-1C8B-45426CD66A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15962"/>
          </a:xfrm>
        </p:spPr>
        <p:txBody>
          <a:bodyPr/>
          <a:lstStyle/>
          <a:p>
            <a:r>
              <a:rPr lang="it-IT" altLang="it-IT"/>
              <a:t>Obiettivi di un Investimento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A187A9D-09BC-5597-377D-E442C4E877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it-IT" altLang="it-IT"/>
              <a:t>Un investitore desidera:</a:t>
            </a:r>
          </a:p>
          <a:p>
            <a:pPr>
              <a:buFont typeface="Wingdings" pitchFamily="2" charset="2"/>
              <a:buNone/>
            </a:pPr>
            <a:endParaRPr lang="it-IT" altLang="it-IT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↑"/>
            </a:pPr>
            <a:r>
              <a:rPr lang="it-IT" altLang="it-IT"/>
              <a:t>Rendere più alto possibile il rendimento atteso del suo portafoglio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None/>
            </a:pPr>
            <a:endParaRPr lang="it-IT" altLang="it-IT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↓"/>
            </a:pPr>
            <a:r>
              <a:rPr lang="it-IT" altLang="it-IT"/>
              <a:t>Rendere più piccola possibile la varianza (deviazione standard) del suo portafoglio</a:t>
            </a:r>
          </a:p>
        </p:txBody>
      </p:sp>
    </p:spTree>
  </p:cSld>
  <p:clrMapOvr>
    <a:masterClrMapping/>
  </p:clrMapOvr>
  <p:transition spd="med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25BA255-9D7C-E49C-BE7C-0A9B4DFFF4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15962"/>
          </a:xfrm>
        </p:spPr>
        <p:txBody>
          <a:bodyPr/>
          <a:lstStyle/>
          <a:p>
            <a:r>
              <a:rPr lang="it-IT" altLang="it-IT"/>
              <a:t>Piano rischio-rendimento</a:t>
            </a:r>
          </a:p>
        </p:txBody>
      </p:sp>
      <p:sp>
        <p:nvSpPr>
          <p:cNvPr id="23555" name="Line 3">
            <a:extLst>
              <a:ext uri="{FF2B5EF4-FFF2-40B4-BE49-F238E27FC236}">
                <a16:creationId xmlns:a16="http://schemas.microsoft.com/office/drawing/2014/main" id="{D8523791-5BCD-6C2F-C45C-257F3C031B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1752600"/>
            <a:ext cx="0" cy="480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3556" name="Line 4">
            <a:extLst>
              <a:ext uri="{FF2B5EF4-FFF2-40B4-BE49-F238E27FC236}">
                <a16:creationId xmlns:a16="http://schemas.microsoft.com/office/drawing/2014/main" id="{E372408E-2722-D9EE-1D7A-3F9607B30A63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61722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3557" name="Text Box 5">
            <a:extLst>
              <a:ext uri="{FF2B5EF4-FFF2-40B4-BE49-F238E27FC236}">
                <a16:creationId xmlns:a16="http://schemas.microsoft.com/office/drawing/2014/main" id="{1B2B61D8-3BDC-741E-F13F-8F9DB7905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6262688"/>
            <a:ext cx="1752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>
                <a:latin typeface="Times New Roman" panose="02020603050405020304" pitchFamily="18" charset="0"/>
              </a:rPr>
              <a:t>Varianza </a:t>
            </a:r>
            <a:r>
              <a:rPr lang="it-IT" altLang="it-IT" b="1" i="1">
                <a:latin typeface="Times New Roman" panose="02020603050405020304" pitchFamily="18" charset="0"/>
              </a:rPr>
              <a:t>V</a:t>
            </a:r>
            <a:r>
              <a:rPr lang="it-IT" altLang="it-IT" i="1">
                <a:latin typeface="Times New Roman" panose="02020603050405020304" pitchFamily="18" charset="0"/>
              </a:rPr>
              <a:t>(R)</a:t>
            </a: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C67C7D98-5741-3F14-AC2F-094476D9C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963738"/>
            <a:ext cx="1143000" cy="779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>
                <a:latin typeface="Times New Roman" panose="02020603050405020304" pitchFamily="18" charset="0"/>
              </a:rPr>
              <a:t>Media</a:t>
            </a:r>
          </a:p>
          <a:p>
            <a:pPr>
              <a:spcBef>
                <a:spcPct val="50000"/>
              </a:spcBef>
            </a:pPr>
            <a:r>
              <a:rPr lang="it-IT" altLang="it-IT" b="1" i="1">
                <a:latin typeface="Times New Roman" panose="02020603050405020304" pitchFamily="18" charset="0"/>
              </a:rPr>
              <a:t>E</a:t>
            </a:r>
            <a:r>
              <a:rPr lang="it-IT" altLang="it-IT" i="1">
                <a:latin typeface="Times New Roman" panose="02020603050405020304" pitchFamily="18" charset="0"/>
              </a:rPr>
              <a:t>(R)</a:t>
            </a:r>
          </a:p>
        </p:txBody>
      </p:sp>
      <p:sp>
        <p:nvSpPr>
          <p:cNvPr id="23563" name="Oval 11">
            <a:extLst>
              <a:ext uri="{FF2B5EF4-FFF2-40B4-BE49-F238E27FC236}">
                <a16:creationId xmlns:a16="http://schemas.microsoft.com/office/drawing/2014/main" id="{550AFDA6-B815-2008-C08B-3F574DFBC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96240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3564" name="Oval 12">
            <a:extLst>
              <a:ext uri="{FF2B5EF4-FFF2-40B4-BE49-F238E27FC236}">
                <a16:creationId xmlns:a16="http://schemas.microsoft.com/office/drawing/2014/main" id="{9DCF05F1-0C3C-AA65-3F27-2375A67A8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0480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3567" name="Oval 15">
            <a:extLst>
              <a:ext uri="{FF2B5EF4-FFF2-40B4-BE49-F238E27FC236}">
                <a16:creationId xmlns:a16="http://schemas.microsoft.com/office/drawing/2014/main" id="{8218786C-F6CD-FFB7-624D-9BA8C35DE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50292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it-IT" altLang="it-IT">
              <a:solidFill>
                <a:srgbClr val="FF0000"/>
              </a:solidFill>
            </a:endParaRPr>
          </a:p>
        </p:txBody>
      </p:sp>
      <p:sp>
        <p:nvSpPr>
          <p:cNvPr id="23569" name="Text Box 17">
            <a:extLst>
              <a:ext uri="{FF2B5EF4-FFF2-40B4-BE49-F238E27FC236}">
                <a16:creationId xmlns:a16="http://schemas.microsoft.com/office/drawing/2014/main" id="{F216EA52-F8A4-F6CB-EB70-22A4697F9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752600"/>
            <a:ext cx="609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400">
                <a:latin typeface="Times New Roman" panose="02020603050405020304" pitchFamily="18" charset="0"/>
              </a:rPr>
              <a:t>In quale di questi titoli vorreste investire?</a:t>
            </a:r>
          </a:p>
        </p:txBody>
      </p:sp>
      <p:sp>
        <p:nvSpPr>
          <p:cNvPr id="23570" name="Text Box 18">
            <a:extLst>
              <a:ext uri="{FF2B5EF4-FFF2-40B4-BE49-F238E27FC236}">
                <a16:creationId xmlns:a16="http://schemas.microsoft.com/office/drawing/2014/main" id="{5402A5CB-89D4-9AA0-F7E0-5451517BF7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209800"/>
            <a:ext cx="502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it-IT" altLang="it-IT"/>
          </a:p>
        </p:txBody>
      </p:sp>
      <p:sp>
        <p:nvSpPr>
          <p:cNvPr id="23571" name="Text Box 19">
            <a:extLst>
              <a:ext uri="{FF2B5EF4-FFF2-40B4-BE49-F238E27FC236}">
                <a16:creationId xmlns:a16="http://schemas.microsoft.com/office/drawing/2014/main" id="{BDA16F5F-E5F5-B9E3-DCCB-BCC23FC96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876800"/>
            <a:ext cx="5334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400">
                <a:latin typeface="Times New Roman" panose="02020603050405020304" pitchFamily="18" charset="0"/>
              </a:rPr>
              <a:t>Il titolo </a:t>
            </a:r>
            <a:r>
              <a:rPr lang="it-IT" altLang="it-IT" sz="2400">
                <a:solidFill>
                  <a:srgbClr val="FF0000"/>
                </a:solidFill>
                <a:latin typeface="Times New Roman" panose="02020603050405020304" pitchFamily="18" charset="0"/>
              </a:rPr>
              <a:t>rosso</a:t>
            </a:r>
            <a:r>
              <a:rPr lang="it-IT" altLang="it-IT" sz="2400">
                <a:latin typeface="Times New Roman" panose="02020603050405020304" pitchFamily="18" charset="0"/>
              </a:rPr>
              <a:t> offre un basso rendimento ed un alto rischio, lo escludiamo</a:t>
            </a:r>
          </a:p>
        </p:txBody>
      </p:sp>
      <p:sp>
        <p:nvSpPr>
          <p:cNvPr id="23572" name="Text Box 20">
            <a:extLst>
              <a:ext uri="{FF2B5EF4-FFF2-40B4-BE49-F238E27FC236}">
                <a16:creationId xmlns:a16="http://schemas.microsoft.com/office/drawing/2014/main" id="{CD25819F-1704-CAB8-6F38-876A35351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3429000"/>
            <a:ext cx="43434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400">
                <a:latin typeface="Times New Roman" panose="02020603050405020304" pitchFamily="18" charset="0"/>
              </a:rPr>
              <a:t>Il titolo </a:t>
            </a:r>
            <a:r>
              <a:rPr lang="it-IT" altLang="it-IT" sz="2400">
                <a:solidFill>
                  <a:srgbClr val="0000FF"/>
                </a:solidFill>
                <a:latin typeface="Times New Roman" panose="02020603050405020304" pitchFamily="18" charset="0"/>
              </a:rPr>
              <a:t>blu</a:t>
            </a:r>
            <a:r>
              <a:rPr lang="it-IT" altLang="it-IT" sz="2400">
                <a:latin typeface="Times New Roman" panose="02020603050405020304" pitchFamily="18" charset="0"/>
              </a:rPr>
              <a:t> offre un rendimento maggiore e un rischio minore lo preferiamo al rosso</a:t>
            </a:r>
          </a:p>
        </p:txBody>
      </p:sp>
      <p:sp>
        <p:nvSpPr>
          <p:cNvPr id="23573" name="Text Box 21">
            <a:extLst>
              <a:ext uri="{FF2B5EF4-FFF2-40B4-BE49-F238E27FC236}">
                <a16:creationId xmlns:a16="http://schemas.microsoft.com/office/drawing/2014/main" id="{60435046-6899-EC08-14A0-215148B6B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438400"/>
            <a:ext cx="5562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400">
                <a:latin typeface="Times New Roman" panose="02020603050405020304" pitchFamily="18" charset="0"/>
              </a:rPr>
              <a:t>Il titolo </a:t>
            </a:r>
            <a:r>
              <a:rPr lang="it-IT" altLang="it-IT" sz="2400">
                <a:solidFill>
                  <a:srgbClr val="00FF00"/>
                </a:solidFill>
                <a:latin typeface="Times New Roman" panose="02020603050405020304" pitchFamily="18" charset="0"/>
              </a:rPr>
              <a:t>verde</a:t>
            </a:r>
            <a:r>
              <a:rPr lang="it-IT" altLang="it-IT" sz="2400">
                <a:latin typeface="Times New Roman" panose="02020603050405020304" pitchFamily="18" charset="0"/>
              </a:rPr>
              <a:t> offre un alto rendimento ed un rischio basso, è da preferire rispetto agli altri</a:t>
            </a:r>
          </a:p>
        </p:txBody>
      </p:sp>
    </p:spTree>
  </p:cSld>
  <p:clrMapOvr>
    <a:masterClrMapping/>
  </p:clrMapOvr>
  <p:transition spd="med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6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6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9" grpId="0"/>
      <p:bldP spid="23571" grpId="0"/>
      <p:bldP spid="23571" grpId="1"/>
      <p:bldP spid="23572" grpId="0"/>
      <p:bldP spid="23572" grpId="1"/>
      <p:bldP spid="2357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D2653FE-C11D-F907-4EF9-ACF54C3B4B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/>
              <a:t>Preferenze rischio-rendimento</a:t>
            </a:r>
          </a:p>
        </p:txBody>
      </p:sp>
      <p:sp>
        <p:nvSpPr>
          <p:cNvPr id="26627" name="Line 3">
            <a:extLst>
              <a:ext uri="{FF2B5EF4-FFF2-40B4-BE49-F238E27FC236}">
                <a16:creationId xmlns:a16="http://schemas.microsoft.com/office/drawing/2014/main" id="{1ED7DAC3-ED7C-A2EF-4881-5031C5EF68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1371600"/>
            <a:ext cx="0" cy="480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6628" name="Line 4">
            <a:extLst>
              <a:ext uri="{FF2B5EF4-FFF2-40B4-BE49-F238E27FC236}">
                <a16:creationId xmlns:a16="http://schemas.microsoft.com/office/drawing/2014/main" id="{5F3F8655-9364-E50B-0BF2-94CDB98D20EF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57912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6629" name="Text Box 5">
            <a:extLst>
              <a:ext uri="{FF2B5EF4-FFF2-40B4-BE49-F238E27FC236}">
                <a16:creationId xmlns:a16="http://schemas.microsoft.com/office/drawing/2014/main" id="{DB3C353B-DAD7-3BB6-0269-22024D92F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5943600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>
                <a:latin typeface="Times New Roman" panose="02020603050405020304" pitchFamily="18" charset="0"/>
              </a:rPr>
              <a:t>Varianza </a:t>
            </a:r>
            <a:r>
              <a:rPr lang="it-IT" altLang="it-IT" b="1" i="1">
                <a:latin typeface="Times New Roman" panose="02020603050405020304" pitchFamily="18" charset="0"/>
              </a:rPr>
              <a:t>V</a:t>
            </a:r>
            <a:r>
              <a:rPr lang="it-IT" altLang="it-IT" i="1">
                <a:latin typeface="Times New Roman" panose="02020603050405020304" pitchFamily="18" charset="0"/>
              </a:rPr>
              <a:t>(R)</a:t>
            </a:r>
          </a:p>
        </p:txBody>
      </p:sp>
      <p:sp>
        <p:nvSpPr>
          <p:cNvPr id="26630" name="Text Box 6">
            <a:extLst>
              <a:ext uri="{FF2B5EF4-FFF2-40B4-BE49-F238E27FC236}">
                <a16:creationId xmlns:a16="http://schemas.microsoft.com/office/drawing/2014/main" id="{B6D015FD-95EA-233B-B8E0-E032847EC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371600"/>
            <a:ext cx="11430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>
                <a:latin typeface="Times New Roman" panose="02020603050405020304" pitchFamily="18" charset="0"/>
              </a:rPr>
              <a:t>Media</a:t>
            </a:r>
          </a:p>
          <a:p>
            <a:pPr>
              <a:spcBef>
                <a:spcPct val="50000"/>
              </a:spcBef>
            </a:pPr>
            <a:r>
              <a:rPr lang="it-IT" altLang="it-IT" b="1" i="1">
                <a:latin typeface="Times New Roman" panose="02020603050405020304" pitchFamily="18" charset="0"/>
              </a:rPr>
              <a:t>E</a:t>
            </a:r>
            <a:r>
              <a:rPr lang="it-IT" altLang="it-IT" i="1">
                <a:latin typeface="Times New Roman" panose="02020603050405020304" pitchFamily="18" charset="0"/>
              </a:rPr>
              <a:t>(R)</a:t>
            </a:r>
          </a:p>
        </p:txBody>
      </p:sp>
      <p:sp>
        <p:nvSpPr>
          <p:cNvPr id="26631" name="Oval 7">
            <a:extLst>
              <a:ext uri="{FF2B5EF4-FFF2-40B4-BE49-F238E27FC236}">
                <a16:creationId xmlns:a16="http://schemas.microsoft.com/office/drawing/2014/main" id="{C17B0185-D400-6772-285F-18485E11B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96240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it-IT" altLang="it-IT">
              <a:solidFill>
                <a:srgbClr val="0000FF"/>
              </a:solidFill>
            </a:endParaRPr>
          </a:p>
        </p:txBody>
      </p:sp>
      <p:sp>
        <p:nvSpPr>
          <p:cNvPr id="26632" name="Oval 8">
            <a:extLst>
              <a:ext uri="{FF2B5EF4-FFF2-40B4-BE49-F238E27FC236}">
                <a16:creationId xmlns:a16="http://schemas.microsoft.com/office/drawing/2014/main" id="{8FD38C20-55F3-DE5E-C3BB-F77BDF234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0480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6633" name="Oval 9">
            <a:extLst>
              <a:ext uri="{FF2B5EF4-FFF2-40B4-BE49-F238E27FC236}">
                <a16:creationId xmlns:a16="http://schemas.microsoft.com/office/drawing/2014/main" id="{9B9107F9-38AC-C933-5294-1A1CE8D20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50292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6635" name="Text Box 11">
            <a:extLst>
              <a:ext uri="{FF2B5EF4-FFF2-40B4-BE49-F238E27FC236}">
                <a16:creationId xmlns:a16="http://schemas.microsoft.com/office/drawing/2014/main" id="{B5850EE0-A501-7B4F-CA6D-1E667D713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209800"/>
            <a:ext cx="5029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it-IT" altLang="it-IT"/>
          </a:p>
        </p:txBody>
      </p:sp>
      <p:sp>
        <p:nvSpPr>
          <p:cNvPr id="26639" name="Line 15">
            <a:extLst>
              <a:ext uri="{FF2B5EF4-FFF2-40B4-BE49-F238E27FC236}">
                <a16:creationId xmlns:a16="http://schemas.microsoft.com/office/drawing/2014/main" id="{73CB7AEE-49C7-BCA5-7ECB-4B7B366E25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4038600"/>
            <a:ext cx="6781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6640" name="Line 16">
            <a:extLst>
              <a:ext uri="{FF2B5EF4-FFF2-40B4-BE49-F238E27FC236}">
                <a16:creationId xmlns:a16="http://schemas.microsoft.com/office/drawing/2014/main" id="{7388C335-18B0-8514-3E5B-50B373A19B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95800" y="20574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6641" name="Text Box 17">
            <a:extLst>
              <a:ext uri="{FF2B5EF4-FFF2-40B4-BE49-F238E27FC236}">
                <a16:creationId xmlns:a16="http://schemas.microsoft.com/office/drawing/2014/main" id="{3EDE8C50-81E3-58AE-A862-AA7954424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4114800"/>
            <a:ext cx="4038600" cy="155257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400">
                <a:latin typeface="Times New Roman" panose="02020603050405020304" pitchFamily="18" charset="0"/>
              </a:rPr>
              <a:t>Tutti questi titoli sono peggiori rispetto al titolo blu (rendimento minore e rischio maggiore)</a:t>
            </a:r>
          </a:p>
        </p:txBody>
      </p:sp>
      <p:sp>
        <p:nvSpPr>
          <p:cNvPr id="26642" name="Text Box 18">
            <a:extLst>
              <a:ext uri="{FF2B5EF4-FFF2-40B4-BE49-F238E27FC236}">
                <a16:creationId xmlns:a16="http://schemas.microsoft.com/office/drawing/2014/main" id="{1383C550-0C05-D71D-3AE7-65063E496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600200"/>
            <a:ext cx="2667000" cy="2282825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400">
                <a:latin typeface="Times New Roman" panose="02020603050405020304" pitchFamily="18" charset="0"/>
              </a:rPr>
              <a:t>Tutti questi titoli sono preferibili rispetto al titolo blu (rendimento maggiore e rischio minore)</a:t>
            </a:r>
          </a:p>
        </p:txBody>
      </p:sp>
      <p:sp>
        <p:nvSpPr>
          <p:cNvPr id="26643" name="Text Box 19">
            <a:extLst>
              <a:ext uri="{FF2B5EF4-FFF2-40B4-BE49-F238E27FC236}">
                <a16:creationId xmlns:a16="http://schemas.microsoft.com/office/drawing/2014/main" id="{6C4C86B1-B7FD-7CE3-B480-087727318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1981200"/>
            <a:ext cx="4038600" cy="19177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400">
                <a:latin typeface="Times New Roman" panose="02020603050405020304" pitchFamily="18" charset="0"/>
              </a:rPr>
              <a:t>I titoli che si trovano in questa zona non sono paragonabili con il titolo blu (offrono maggior rendimento, ma richiedono maggior rischio)</a:t>
            </a:r>
          </a:p>
        </p:txBody>
      </p:sp>
      <p:sp>
        <p:nvSpPr>
          <p:cNvPr id="26644" name="Text Box 20">
            <a:extLst>
              <a:ext uri="{FF2B5EF4-FFF2-40B4-BE49-F238E27FC236}">
                <a16:creationId xmlns:a16="http://schemas.microsoft.com/office/drawing/2014/main" id="{D16B1CBD-0628-FA2F-100F-C6F3E7ECF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191000"/>
            <a:ext cx="4038600" cy="19177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400">
                <a:latin typeface="Times New Roman" panose="02020603050405020304" pitchFamily="18" charset="0"/>
              </a:rPr>
              <a:t>I titoli che si trovano in questa zona non sono paragonabili con il titolo blu (offrono minor rendimento, ma richiedono un rischio minore)</a:t>
            </a:r>
          </a:p>
        </p:txBody>
      </p:sp>
    </p:spTree>
  </p:cSld>
  <p:clrMapOvr>
    <a:masterClrMapping/>
  </p:clrMapOvr>
  <p:transition spd="med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6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6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6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6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41" grpId="0" animBg="1"/>
      <p:bldP spid="26642" grpId="0" animBg="1"/>
      <p:bldP spid="26643" grpId="0" animBg="1"/>
      <p:bldP spid="2664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D9E64E0-6C84-7B4E-5B2A-BB181B9C9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15962"/>
          </a:xfrm>
        </p:spPr>
        <p:txBody>
          <a:bodyPr/>
          <a:lstStyle/>
          <a:p>
            <a:r>
              <a:rPr lang="it-IT" altLang="it-IT"/>
              <a:t>Rischio-Rendimento</a:t>
            </a:r>
          </a:p>
        </p:txBody>
      </p:sp>
      <p:sp>
        <p:nvSpPr>
          <p:cNvPr id="25603" name="Line 3">
            <a:extLst>
              <a:ext uri="{FF2B5EF4-FFF2-40B4-BE49-F238E27FC236}">
                <a16:creationId xmlns:a16="http://schemas.microsoft.com/office/drawing/2014/main" id="{2B3B0DB5-01EB-7826-2019-33C4DF79C0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1371600"/>
            <a:ext cx="0" cy="480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5604" name="Line 4">
            <a:extLst>
              <a:ext uri="{FF2B5EF4-FFF2-40B4-BE49-F238E27FC236}">
                <a16:creationId xmlns:a16="http://schemas.microsoft.com/office/drawing/2014/main" id="{7FB1C8AA-A308-5510-F6F4-98E6EC399AB4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57912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5605" name="Text Box 5">
            <a:extLst>
              <a:ext uri="{FF2B5EF4-FFF2-40B4-BE49-F238E27FC236}">
                <a16:creationId xmlns:a16="http://schemas.microsoft.com/office/drawing/2014/main" id="{FE0C1AC4-5699-3A89-9CFA-784A54AB3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5943600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>
                <a:latin typeface="Times New Roman" panose="02020603050405020304" pitchFamily="18" charset="0"/>
              </a:rPr>
              <a:t>Varianza </a:t>
            </a:r>
            <a:r>
              <a:rPr lang="it-IT" altLang="it-IT" b="1" i="1">
                <a:latin typeface="Times New Roman" panose="02020603050405020304" pitchFamily="18" charset="0"/>
              </a:rPr>
              <a:t>V</a:t>
            </a:r>
            <a:r>
              <a:rPr lang="it-IT" altLang="it-IT" i="1">
                <a:latin typeface="Times New Roman" panose="02020603050405020304" pitchFamily="18" charset="0"/>
              </a:rPr>
              <a:t>(R)</a:t>
            </a:r>
          </a:p>
        </p:txBody>
      </p:sp>
      <p:sp>
        <p:nvSpPr>
          <p:cNvPr id="25606" name="Text Box 6">
            <a:extLst>
              <a:ext uri="{FF2B5EF4-FFF2-40B4-BE49-F238E27FC236}">
                <a16:creationId xmlns:a16="http://schemas.microsoft.com/office/drawing/2014/main" id="{72EED933-B476-4E1C-A860-25C99E106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371600"/>
            <a:ext cx="11430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>
                <a:latin typeface="Times New Roman" panose="02020603050405020304" pitchFamily="18" charset="0"/>
              </a:rPr>
              <a:t>Media</a:t>
            </a:r>
          </a:p>
          <a:p>
            <a:pPr>
              <a:spcBef>
                <a:spcPct val="50000"/>
              </a:spcBef>
            </a:pPr>
            <a:r>
              <a:rPr lang="it-IT" altLang="it-IT" b="1" i="1">
                <a:latin typeface="Times New Roman" panose="02020603050405020304" pitchFamily="18" charset="0"/>
              </a:rPr>
              <a:t>E</a:t>
            </a:r>
            <a:r>
              <a:rPr lang="it-IT" altLang="it-IT" i="1">
                <a:latin typeface="Times New Roman" panose="02020603050405020304" pitchFamily="18" charset="0"/>
              </a:rPr>
              <a:t>(R)</a:t>
            </a:r>
          </a:p>
        </p:txBody>
      </p:sp>
      <p:sp>
        <p:nvSpPr>
          <p:cNvPr id="25607" name="Line 7">
            <a:extLst>
              <a:ext uri="{FF2B5EF4-FFF2-40B4-BE49-F238E27FC236}">
                <a16:creationId xmlns:a16="http://schemas.microsoft.com/office/drawing/2014/main" id="{DCEC02EE-E029-9097-046C-0312A975E7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1981200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5608" name="Line 8">
            <a:extLst>
              <a:ext uri="{FF2B5EF4-FFF2-40B4-BE49-F238E27FC236}">
                <a16:creationId xmlns:a16="http://schemas.microsoft.com/office/drawing/2014/main" id="{CD4AB7AC-5D92-26B8-4C83-6B71210E25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1981200"/>
            <a:ext cx="0" cy="38100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5609" name="Line 9">
            <a:extLst>
              <a:ext uri="{FF2B5EF4-FFF2-40B4-BE49-F238E27FC236}">
                <a16:creationId xmlns:a16="http://schemas.microsoft.com/office/drawing/2014/main" id="{FE78AED7-01C1-0262-0F9C-A1E25BA27E4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37338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5610" name="Line 10">
            <a:extLst>
              <a:ext uri="{FF2B5EF4-FFF2-40B4-BE49-F238E27FC236}">
                <a16:creationId xmlns:a16="http://schemas.microsoft.com/office/drawing/2014/main" id="{1E50A170-327E-0E2A-34AA-E3CE30AA38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3733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5611" name="Oval 11">
            <a:extLst>
              <a:ext uri="{FF2B5EF4-FFF2-40B4-BE49-F238E27FC236}">
                <a16:creationId xmlns:a16="http://schemas.microsoft.com/office/drawing/2014/main" id="{CCCEE58A-62C1-26F8-0EDE-4A0D0B39C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6576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5612" name="Oval 12">
            <a:extLst>
              <a:ext uri="{FF2B5EF4-FFF2-40B4-BE49-F238E27FC236}">
                <a16:creationId xmlns:a16="http://schemas.microsoft.com/office/drawing/2014/main" id="{3B594178-CE65-F222-C776-C65CA904F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19050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5613" name="Text Box 13">
            <a:extLst>
              <a:ext uri="{FF2B5EF4-FFF2-40B4-BE49-F238E27FC236}">
                <a16:creationId xmlns:a16="http://schemas.microsoft.com/office/drawing/2014/main" id="{77F71F91-DCF0-EE07-5E9B-E0BF60FDE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2971800"/>
            <a:ext cx="39624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400">
                <a:latin typeface="Times New Roman" panose="02020603050405020304" pitchFamily="18" charset="0"/>
              </a:rPr>
              <a:t>Che portafogli si possono creare in un mercato formato solo da questi due titoli?</a:t>
            </a:r>
          </a:p>
        </p:txBody>
      </p:sp>
      <p:sp>
        <p:nvSpPr>
          <p:cNvPr id="25614" name="Text Box 14">
            <a:extLst>
              <a:ext uri="{FF2B5EF4-FFF2-40B4-BE49-F238E27FC236}">
                <a16:creationId xmlns:a16="http://schemas.microsoft.com/office/drawing/2014/main" id="{5A1BEC32-C7A2-EBED-E142-9D8C0405F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1981200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800" i="1">
                <a:solidFill>
                  <a:srgbClr val="00FF00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5615" name="Text Box 15">
            <a:extLst>
              <a:ext uri="{FF2B5EF4-FFF2-40B4-BE49-F238E27FC236}">
                <a16:creationId xmlns:a16="http://schemas.microsoft.com/office/drawing/2014/main" id="{9E0B9A80-D257-FC5B-0A9C-473380DC0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3733800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800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</a:p>
        </p:txBody>
      </p:sp>
    </p:spTree>
  </p:cSld>
  <p:clrMapOvr>
    <a:masterClrMapping/>
  </p:clrMapOvr>
  <p:transition spd="med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E77C737C-218F-905C-AF56-E5705C56EC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15962"/>
          </a:xfrm>
        </p:spPr>
        <p:txBody>
          <a:bodyPr/>
          <a:lstStyle/>
          <a:p>
            <a:r>
              <a:rPr lang="it-IT" altLang="it-IT">
                <a:latin typeface="Times New Roman" panose="02020603050405020304" pitchFamily="18" charset="0"/>
              </a:rPr>
              <a:t>Rendimento di portafoglio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B873CAD-8796-AA98-9256-88ED909CF9F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719263"/>
            <a:ext cx="7712075" cy="3436937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it-IT" altLang="it-IT" sz="2600">
                <a:latin typeface="Times New Roman" panose="02020603050405020304" pitchFamily="18" charset="0"/>
              </a:rPr>
              <a:t>Se i due titoli hanno rendimento atteso </a:t>
            </a:r>
            <a:r>
              <a:rPr lang="it-IT" altLang="it-IT" sz="2600" i="1">
                <a:latin typeface="Times New Roman" panose="02020603050405020304" pitchFamily="18" charset="0"/>
              </a:rPr>
              <a:t>r</a:t>
            </a:r>
            <a:r>
              <a:rPr lang="it-IT" altLang="it-IT" sz="2600" i="1" baseline="-25000">
                <a:latin typeface="Times New Roman" panose="02020603050405020304" pitchFamily="18" charset="0"/>
              </a:rPr>
              <a:t>A</a:t>
            </a:r>
            <a:r>
              <a:rPr lang="it-IT" altLang="it-IT" sz="2600" i="1">
                <a:latin typeface="Times New Roman" panose="02020603050405020304" pitchFamily="18" charset="0"/>
              </a:rPr>
              <a:t>, r</a:t>
            </a:r>
            <a:r>
              <a:rPr lang="it-IT" altLang="it-IT" sz="2600" i="1" baseline="-25000">
                <a:latin typeface="Times New Roman" panose="02020603050405020304" pitchFamily="18" charset="0"/>
              </a:rPr>
              <a:t>B </a:t>
            </a:r>
            <a:r>
              <a:rPr lang="it-IT" altLang="it-IT" sz="2600">
                <a:latin typeface="Times New Roman" panose="02020603050405020304" pitchFamily="18" charset="0"/>
              </a:rPr>
              <a:t>allora un portafoglio investito al 30% nel titolo </a:t>
            </a:r>
            <a:r>
              <a:rPr lang="it-IT" altLang="it-IT" sz="2600" i="1">
                <a:latin typeface="Times New Roman" panose="02020603050405020304" pitchFamily="18" charset="0"/>
              </a:rPr>
              <a:t>A</a:t>
            </a:r>
            <a:r>
              <a:rPr lang="it-IT" altLang="it-IT" sz="2600">
                <a:latin typeface="Times New Roman" panose="02020603050405020304" pitchFamily="18" charset="0"/>
              </a:rPr>
              <a:t> e al 70% nel titolo </a:t>
            </a:r>
            <a:r>
              <a:rPr lang="it-IT" altLang="it-IT" sz="2600" i="1">
                <a:latin typeface="Times New Roman" panose="02020603050405020304" pitchFamily="18" charset="0"/>
              </a:rPr>
              <a:t>B</a:t>
            </a:r>
            <a:r>
              <a:rPr lang="it-IT" altLang="it-IT" sz="2600">
                <a:latin typeface="Times New Roman" panose="02020603050405020304" pitchFamily="18" charset="0"/>
              </a:rPr>
              <a:t> ha rendimento atteso</a:t>
            </a:r>
          </a:p>
          <a:p>
            <a:pPr marL="0" indent="0">
              <a:buFont typeface="Wingdings" pitchFamily="2" charset="2"/>
              <a:buNone/>
            </a:pPr>
            <a:endParaRPr lang="it-IT" altLang="it-IT" sz="2600" i="1">
              <a:latin typeface="Times New Roman" panose="02020603050405020304" pitchFamily="18" charset="0"/>
            </a:endParaRPr>
          </a:p>
          <a:p>
            <a:pPr marL="0" indent="0">
              <a:buFont typeface="Wingdings" pitchFamily="2" charset="2"/>
              <a:buNone/>
            </a:pPr>
            <a:endParaRPr lang="it-IT" altLang="it-IT" sz="2600">
              <a:latin typeface="Times New Roman" panose="02020603050405020304" pitchFamily="18" charset="0"/>
            </a:endParaRPr>
          </a:p>
          <a:p>
            <a:pPr marL="0" indent="0">
              <a:buFont typeface="Wingdings" pitchFamily="2" charset="2"/>
              <a:buNone/>
            </a:pPr>
            <a:endParaRPr lang="it-IT" altLang="it-IT" sz="1200">
              <a:latin typeface="Times New Roman" panose="02020603050405020304" pitchFamily="18" charset="0"/>
            </a:endParaRPr>
          </a:p>
          <a:p>
            <a:pPr marL="0" indent="0">
              <a:buFont typeface="Wingdings" pitchFamily="2" charset="2"/>
              <a:buNone/>
            </a:pPr>
            <a:r>
              <a:rPr lang="it-IT" altLang="it-IT" sz="2600">
                <a:latin typeface="Times New Roman" panose="02020603050405020304" pitchFamily="18" charset="0"/>
              </a:rPr>
              <a:t>Un portafoglio investito per </a:t>
            </a:r>
            <a:r>
              <a:rPr lang="it-IT" altLang="it-IT" sz="2600" i="1">
                <a:latin typeface="Times New Roman" panose="02020603050405020304" pitchFamily="18" charset="0"/>
              </a:rPr>
              <a:t>w</a:t>
            </a:r>
            <a:r>
              <a:rPr lang="it-IT" altLang="it-IT" sz="2600">
                <a:latin typeface="Times New Roman" panose="02020603050405020304" pitchFamily="18" charset="0"/>
              </a:rPr>
              <a:t> in </a:t>
            </a:r>
            <a:r>
              <a:rPr lang="it-IT" altLang="it-IT" sz="2600" i="1">
                <a:latin typeface="Times New Roman" panose="02020603050405020304" pitchFamily="18" charset="0"/>
              </a:rPr>
              <a:t>A</a:t>
            </a:r>
            <a:r>
              <a:rPr lang="it-IT" altLang="it-IT" sz="2600">
                <a:latin typeface="Times New Roman" panose="02020603050405020304" pitchFamily="18" charset="0"/>
              </a:rPr>
              <a:t> e per (1</a:t>
            </a:r>
            <a:r>
              <a:rPr lang="it-IT" altLang="it-IT" sz="2600" i="1">
                <a:latin typeface="Times New Roman" panose="02020603050405020304" pitchFamily="18" charset="0"/>
              </a:rPr>
              <a:t>-w)</a:t>
            </a:r>
            <a:r>
              <a:rPr lang="it-IT" altLang="it-IT" sz="2600">
                <a:latin typeface="Times New Roman" panose="02020603050405020304" pitchFamily="18" charset="0"/>
              </a:rPr>
              <a:t> in </a:t>
            </a:r>
            <a:r>
              <a:rPr lang="it-IT" altLang="it-IT" sz="2600" i="1">
                <a:latin typeface="Times New Roman" panose="02020603050405020304" pitchFamily="18" charset="0"/>
              </a:rPr>
              <a:t>B </a:t>
            </a:r>
            <a:r>
              <a:rPr lang="it-IT" altLang="it-IT" sz="2600">
                <a:latin typeface="Times New Roman" panose="02020603050405020304" pitchFamily="18" charset="0"/>
              </a:rPr>
              <a:t>ha rendimento atteso</a:t>
            </a:r>
          </a:p>
        </p:txBody>
      </p:sp>
      <p:graphicFrame>
        <p:nvGraphicFramePr>
          <p:cNvPr id="27654" name="Object 6">
            <a:extLst>
              <a:ext uri="{FF2B5EF4-FFF2-40B4-BE49-F238E27FC236}">
                <a16:creationId xmlns:a16="http://schemas.microsoft.com/office/drawing/2014/main" id="{D0329C38-47E1-DC0F-3AAB-7C039DE27D0A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677988" y="3217863"/>
          <a:ext cx="487680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373300" imgH="5562600" progId="Equation.3">
                  <p:embed/>
                </p:oleObj>
              </mc:Choice>
              <mc:Fallback>
                <p:oleObj name="Equation" r:id="rId2" imgW="40373300" imgH="5562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7988" y="3217863"/>
                        <a:ext cx="4876800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4" name="Object 16">
            <a:extLst>
              <a:ext uri="{FF2B5EF4-FFF2-40B4-BE49-F238E27FC236}">
                <a16:creationId xmlns:a16="http://schemas.microsoft.com/office/drawing/2014/main" id="{58E84B05-78CE-7676-C57E-E3C4E42449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8963" y="5181600"/>
          <a:ext cx="4664075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620700" imgH="5562600" progId="Equation.3">
                  <p:embed/>
                </p:oleObj>
              </mc:Choice>
              <mc:Fallback>
                <p:oleObj name="Equation" r:id="rId4" imgW="38620700" imgH="55626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963" y="5181600"/>
                        <a:ext cx="4664075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4DE212C2-DB82-030A-60DD-E93BA9BBCA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15962"/>
          </a:xfrm>
        </p:spPr>
        <p:txBody>
          <a:bodyPr/>
          <a:lstStyle/>
          <a:p>
            <a:r>
              <a:rPr lang="it-IT" altLang="it-IT">
                <a:latin typeface="Times New Roman" panose="02020603050405020304" pitchFamily="18" charset="0"/>
              </a:rPr>
              <a:t>Rischio di portafoglio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039928F1-F920-04C5-CED9-5C05941E87B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719263"/>
            <a:ext cx="7712075" cy="3436937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it-IT" altLang="it-IT" sz="2600">
                <a:latin typeface="Times New Roman" panose="02020603050405020304" pitchFamily="18" charset="0"/>
              </a:rPr>
              <a:t>Se i due titoli hanno varianza </a:t>
            </a:r>
            <a:r>
              <a:rPr lang="it-IT" altLang="it-IT" sz="2600">
                <a:latin typeface="Times New Roman" panose="02020603050405020304" pitchFamily="18" charset="0"/>
                <a:sym typeface="Symbol" pitchFamily="2" charset="2"/>
              </a:rPr>
              <a:t></a:t>
            </a:r>
            <a:r>
              <a:rPr lang="it-IT" altLang="it-IT" sz="2600" i="1" baseline="-25000">
                <a:latin typeface="Times New Roman" panose="02020603050405020304" pitchFamily="18" charset="0"/>
              </a:rPr>
              <a:t>A</a:t>
            </a:r>
            <a:r>
              <a:rPr lang="it-IT" altLang="it-IT" sz="2600" baseline="3000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it-IT" altLang="it-IT" sz="2600" i="1">
                <a:latin typeface="Times New Roman" panose="02020603050405020304" pitchFamily="18" charset="0"/>
              </a:rPr>
              <a:t>, </a:t>
            </a:r>
            <a:r>
              <a:rPr lang="it-IT" altLang="it-IT" sz="2600">
                <a:latin typeface="Times New Roman" panose="02020603050405020304" pitchFamily="18" charset="0"/>
                <a:sym typeface="Symbol" pitchFamily="2" charset="2"/>
              </a:rPr>
              <a:t></a:t>
            </a:r>
            <a:r>
              <a:rPr lang="it-IT" altLang="it-IT" sz="2600" i="1" baseline="-25000">
                <a:latin typeface="Times New Roman" panose="02020603050405020304" pitchFamily="18" charset="0"/>
              </a:rPr>
              <a:t>B</a:t>
            </a:r>
            <a:r>
              <a:rPr lang="it-IT" altLang="it-IT" sz="2600" baseline="3000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it-IT" altLang="it-IT" sz="2600" i="1" baseline="-25000">
                <a:latin typeface="Times New Roman" panose="02020603050405020304" pitchFamily="18" charset="0"/>
              </a:rPr>
              <a:t> </a:t>
            </a:r>
            <a:r>
              <a:rPr lang="it-IT" altLang="it-IT" sz="2600">
                <a:latin typeface="Times New Roman" panose="02020603050405020304" pitchFamily="18" charset="0"/>
              </a:rPr>
              <a:t>allora un portafoglio investito per </a:t>
            </a:r>
            <a:r>
              <a:rPr lang="it-IT" altLang="it-IT" sz="2600" i="1">
                <a:latin typeface="Times New Roman" panose="02020603050405020304" pitchFamily="18" charset="0"/>
              </a:rPr>
              <a:t>w</a:t>
            </a:r>
            <a:r>
              <a:rPr lang="it-IT" altLang="it-IT" sz="2600">
                <a:latin typeface="Times New Roman" panose="02020603050405020304" pitchFamily="18" charset="0"/>
              </a:rPr>
              <a:t> nel titolo </a:t>
            </a:r>
            <a:r>
              <a:rPr lang="it-IT" altLang="it-IT" sz="2600" i="1">
                <a:latin typeface="Times New Roman" panose="02020603050405020304" pitchFamily="18" charset="0"/>
              </a:rPr>
              <a:t>A</a:t>
            </a:r>
            <a:r>
              <a:rPr lang="it-IT" altLang="it-IT" sz="2600">
                <a:latin typeface="Times New Roman" panose="02020603050405020304" pitchFamily="18" charset="0"/>
              </a:rPr>
              <a:t> e per (1-</a:t>
            </a:r>
            <a:r>
              <a:rPr lang="it-IT" altLang="it-IT" sz="2600" i="1">
                <a:latin typeface="Times New Roman" panose="02020603050405020304" pitchFamily="18" charset="0"/>
              </a:rPr>
              <a:t>w</a:t>
            </a:r>
            <a:r>
              <a:rPr lang="it-IT" altLang="it-IT" sz="2600">
                <a:latin typeface="Times New Roman" panose="02020603050405020304" pitchFamily="18" charset="0"/>
              </a:rPr>
              <a:t>) nel titolo </a:t>
            </a:r>
            <a:r>
              <a:rPr lang="it-IT" altLang="it-IT" sz="2600" i="1">
                <a:latin typeface="Times New Roman" panose="02020603050405020304" pitchFamily="18" charset="0"/>
              </a:rPr>
              <a:t>B</a:t>
            </a:r>
            <a:r>
              <a:rPr lang="it-IT" altLang="it-IT" sz="2600">
                <a:latin typeface="Times New Roman" panose="02020603050405020304" pitchFamily="18" charset="0"/>
              </a:rPr>
              <a:t> ha varianza</a:t>
            </a:r>
          </a:p>
          <a:p>
            <a:pPr marL="0" indent="0">
              <a:buFont typeface="Wingdings" pitchFamily="2" charset="2"/>
              <a:buNone/>
            </a:pPr>
            <a:endParaRPr lang="it-IT" altLang="it-IT" sz="2600" i="1">
              <a:latin typeface="Times New Roman" panose="02020603050405020304" pitchFamily="18" charset="0"/>
            </a:endParaRPr>
          </a:p>
          <a:p>
            <a:pPr marL="0" indent="0">
              <a:buFont typeface="Wingdings" pitchFamily="2" charset="2"/>
              <a:buNone/>
            </a:pPr>
            <a:endParaRPr lang="it-IT" altLang="it-IT" sz="2600">
              <a:latin typeface="Times New Roman" panose="02020603050405020304" pitchFamily="18" charset="0"/>
            </a:endParaRPr>
          </a:p>
        </p:txBody>
      </p:sp>
      <p:graphicFrame>
        <p:nvGraphicFramePr>
          <p:cNvPr id="35844" name="Object 4">
            <a:extLst>
              <a:ext uri="{FF2B5EF4-FFF2-40B4-BE49-F238E27FC236}">
                <a16:creationId xmlns:a16="http://schemas.microsoft.com/office/drawing/2014/main" id="{D301B00A-A84B-9BC5-C615-BE7711ACB5BF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835025" y="3352800"/>
          <a:ext cx="59467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980600" imgH="6146800" progId="Equation.3">
                  <p:embed/>
                </p:oleObj>
              </mc:Choice>
              <mc:Fallback>
                <p:oleObj name="Equation" r:id="rId2" imgW="47980600" imgH="6146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025" y="3352800"/>
                        <a:ext cx="594677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5">
            <a:extLst>
              <a:ext uri="{FF2B5EF4-FFF2-40B4-BE49-F238E27FC236}">
                <a16:creationId xmlns:a16="http://schemas.microsoft.com/office/drawing/2014/main" id="{82329F0F-D1BA-86A9-D39D-F447BA556A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0" y="4349750"/>
          <a:ext cx="397827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766000" imgH="4978400" progId="Equation.3">
                  <p:embed/>
                </p:oleObj>
              </mc:Choice>
              <mc:Fallback>
                <p:oleObj name="Equation" r:id="rId4" imgW="32766000" imgH="4978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349750"/>
                        <a:ext cx="3978275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6" name="Rectangle 6">
            <a:extLst>
              <a:ext uri="{FF2B5EF4-FFF2-40B4-BE49-F238E27FC236}">
                <a16:creationId xmlns:a16="http://schemas.microsoft.com/office/drawing/2014/main" id="{CA9E85B9-621D-56CB-28DE-19ADC55F7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124200"/>
            <a:ext cx="1371600" cy="9906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5847" name="Text Box 7">
            <a:extLst>
              <a:ext uri="{FF2B5EF4-FFF2-40B4-BE49-F238E27FC236}">
                <a16:creationId xmlns:a16="http://schemas.microsoft.com/office/drawing/2014/main" id="{A7F245A5-A676-1B4A-EF36-4BF3E6A90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590800"/>
            <a:ext cx="2057400" cy="528638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 altLang="it-IT" sz="2800">
                <a:latin typeface="Times New Roman" panose="02020603050405020304" pitchFamily="18" charset="0"/>
              </a:rPr>
              <a:t>Rischio </a:t>
            </a:r>
            <a:r>
              <a:rPr lang="it-IT" altLang="it-IT" sz="2800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5848" name="Rectangle 8">
            <a:extLst>
              <a:ext uri="{FF2B5EF4-FFF2-40B4-BE49-F238E27FC236}">
                <a16:creationId xmlns:a16="http://schemas.microsoft.com/office/drawing/2014/main" id="{1F3A0307-57A9-0178-0C7D-599D0E632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048000"/>
            <a:ext cx="2133600" cy="1066800"/>
          </a:xfrm>
          <a:prstGeom prst="rect">
            <a:avLst/>
          </a:prstGeom>
          <a:noFill/>
          <a:ln w="9525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5849" name="Text Box 9">
            <a:extLst>
              <a:ext uri="{FF2B5EF4-FFF2-40B4-BE49-F238E27FC236}">
                <a16:creationId xmlns:a16="http://schemas.microsoft.com/office/drawing/2014/main" id="{81B56FA9-2E78-8615-02CD-5B6F2569B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2590800"/>
            <a:ext cx="2667000" cy="519113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 altLang="it-IT" sz="2800">
                <a:latin typeface="Times New Roman" panose="02020603050405020304" pitchFamily="18" charset="0"/>
              </a:rPr>
              <a:t>Rischio</a:t>
            </a:r>
            <a:r>
              <a:rPr lang="it-IT" altLang="it-IT" sz="2800" i="1">
                <a:latin typeface="Times New Roman" panose="02020603050405020304" pitchFamily="18" charset="0"/>
              </a:rPr>
              <a:t> B</a:t>
            </a:r>
          </a:p>
        </p:txBody>
      </p:sp>
      <p:sp>
        <p:nvSpPr>
          <p:cNvPr id="35850" name="Rectangle 10">
            <a:extLst>
              <a:ext uri="{FF2B5EF4-FFF2-40B4-BE49-F238E27FC236}">
                <a16:creationId xmlns:a16="http://schemas.microsoft.com/office/drawing/2014/main" id="{43F0DE0B-CB99-4A36-597B-CC34BF9A9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267200"/>
            <a:ext cx="3886200" cy="914400"/>
          </a:xfrm>
          <a:prstGeom prst="rect">
            <a:avLst/>
          </a:prstGeom>
          <a:noFill/>
          <a:ln w="9525">
            <a:solidFill>
              <a:srgbClr val="CCE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5851" name="Text Box 11">
            <a:extLst>
              <a:ext uri="{FF2B5EF4-FFF2-40B4-BE49-F238E27FC236}">
                <a16:creationId xmlns:a16="http://schemas.microsoft.com/office/drawing/2014/main" id="{DDD15555-D05C-549E-E7C1-CE0C3CB5B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105400"/>
            <a:ext cx="7086600" cy="528638"/>
          </a:xfrm>
          <a:prstGeom prst="rect">
            <a:avLst/>
          </a:prstGeom>
          <a:solidFill>
            <a:srgbClr val="CCECFF"/>
          </a:solidFill>
          <a:ln w="9525">
            <a:solidFill>
              <a:srgbClr val="CCE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 altLang="it-IT" sz="2800">
                <a:latin typeface="Times New Roman" panose="02020603050405020304" pitchFamily="18" charset="0"/>
              </a:rPr>
              <a:t>Movimento congiunto di </a:t>
            </a:r>
            <a:r>
              <a:rPr lang="it-IT" altLang="it-IT" sz="2800" i="1">
                <a:latin typeface="Times New Roman" panose="02020603050405020304" pitchFamily="18" charset="0"/>
              </a:rPr>
              <a:t>A</a:t>
            </a:r>
            <a:r>
              <a:rPr lang="it-IT" altLang="it-IT" sz="2800">
                <a:latin typeface="Times New Roman" panose="02020603050405020304" pitchFamily="18" charset="0"/>
              </a:rPr>
              <a:t> e </a:t>
            </a:r>
            <a:r>
              <a:rPr lang="it-IT" altLang="it-IT" sz="2800" i="1">
                <a:latin typeface="Times New Roman" panose="02020603050405020304" pitchFamily="18" charset="0"/>
              </a:rPr>
              <a:t>B</a:t>
            </a:r>
          </a:p>
        </p:txBody>
      </p:sp>
    </p:spTree>
  </p:cSld>
  <p:clrMapOvr>
    <a:masterClrMapping/>
  </p:clrMapOvr>
  <p:transition spd="med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9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2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5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8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7" grpId="0" animBg="1"/>
      <p:bldP spid="35847" grpId="1" animBg="1"/>
      <p:bldP spid="35849" grpId="0" animBg="1"/>
      <p:bldP spid="35849" grpId="1" animBg="1"/>
      <p:bldP spid="3585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7510D83D-058E-4578-9E32-6E43144E27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15962"/>
          </a:xfrm>
        </p:spPr>
        <p:txBody>
          <a:bodyPr/>
          <a:lstStyle/>
          <a:p>
            <a:r>
              <a:rPr lang="it-IT" altLang="it-IT">
                <a:latin typeface="Times New Roman" panose="02020603050405020304" pitchFamily="18" charset="0"/>
              </a:rPr>
              <a:t>Correlazione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D9D20B55-6534-A6F2-F548-C6BF32882F79}"/>
              </a:ext>
            </a:extLst>
          </p:cNvPr>
          <p:cNvSpPr>
            <a:spLocks noGrp="1" noChangeArrowheads="1"/>
          </p:cNvSpPr>
          <p:nvPr>
            <p:ph type="body" sz="half" idx="3"/>
          </p:nvPr>
        </p:nvSpPr>
        <p:spPr>
          <a:xfrm>
            <a:off x="457200" y="1546225"/>
            <a:ext cx="8229600" cy="4778375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it-IT" altLang="it-IT" sz="2600">
                <a:latin typeface="Times New Roman" panose="02020603050405020304" pitchFamily="18" charset="0"/>
              </a:rPr>
              <a:t>Il coefficiente di correlazione </a:t>
            </a:r>
            <a:r>
              <a:rPr lang="it-IT" altLang="it-IT" sz="2600" i="1">
                <a:latin typeface="Times New Roman" panose="02020603050405020304" pitchFamily="18" charset="0"/>
                <a:sym typeface="Symbol" pitchFamily="2" charset="2"/>
              </a:rPr>
              <a:t></a:t>
            </a:r>
            <a:r>
              <a:rPr lang="it-IT" altLang="it-IT" sz="2600" i="1" baseline="-25000">
                <a:latin typeface="Times New Roman" panose="02020603050405020304" pitchFamily="18" charset="0"/>
                <a:sym typeface="Symbol" pitchFamily="2" charset="2"/>
              </a:rPr>
              <a:t>AB</a:t>
            </a:r>
            <a:r>
              <a:rPr lang="it-IT" altLang="it-IT" sz="2600" i="1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it-IT" altLang="it-IT" sz="2600">
                <a:latin typeface="Times New Roman" panose="02020603050405020304" pitchFamily="18" charset="0"/>
                <a:sym typeface="Symbol" pitchFamily="2" charset="2"/>
              </a:rPr>
              <a:t>spiega come si muovono simultaneamente i due titoli</a:t>
            </a:r>
          </a:p>
          <a:p>
            <a:pPr marL="0" indent="0">
              <a:buFont typeface="Wingdings" pitchFamily="2" charset="2"/>
              <a:buNone/>
            </a:pPr>
            <a:endParaRPr lang="it-IT" altLang="it-IT" sz="2600">
              <a:latin typeface="Times New Roman" panose="02020603050405020304" pitchFamily="18" charset="0"/>
              <a:sym typeface="Symbol" pitchFamily="2" charset="2"/>
            </a:endParaRPr>
          </a:p>
          <a:p>
            <a:pPr marL="0" indent="0" algn="ctr">
              <a:buFont typeface="Wingdings" pitchFamily="2" charset="2"/>
              <a:buNone/>
            </a:pPr>
            <a:r>
              <a:rPr lang="it-IT" altLang="it-IT" sz="2600">
                <a:latin typeface="Times New Roman" panose="02020603050405020304" pitchFamily="18" charset="0"/>
                <a:sym typeface="Symbol" pitchFamily="2" charset="2"/>
              </a:rPr>
              <a:t>-1 &lt; </a:t>
            </a:r>
            <a:r>
              <a:rPr lang="it-IT" altLang="it-IT" sz="2600" i="1">
                <a:latin typeface="Times New Roman" panose="02020603050405020304" pitchFamily="18" charset="0"/>
                <a:sym typeface="Symbol" pitchFamily="2" charset="2"/>
              </a:rPr>
              <a:t></a:t>
            </a:r>
            <a:r>
              <a:rPr lang="it-IT" altLang="it-IT" sz="2600" i="1" baseline="-25000">
                <a:latin typeface="Times New Roman" panose="02020603050405020304" pitchFamily="18" charset="0"/>
                <a:sym typeface="Symbol" pitchFamily="2" charset="2"/>
              </a:rPr>
              <a:t>AB</a:t>
            </a:r>
            <a:r>
              <a:rPr lang="it-IT" altLang="it-IT" sz="2600" i="1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it-IT" altLang="it-IT" sz="2600">
                <a:latin typeface="Times New Roman" panose="02020603050405020304" pitchFamily="18" charset="0"/>
                <a:sym typeface="Symbol" pitchFamily="2" charset="2"/>
              </a:rPr>
              <a:t>&lt; 1</a:t>
            </a:r>
          </a:p>
          <a:p>
            <a:pPr marL="0" indent="0" algn="ctr">
              <a:buFont typeface="Wingdings" pitchFamily="2" charset="2"/>
              <a:buNone/>
            </a:pPr>
            <a:endParaRPr lang="it-IT" altLang="it-IT" sz="2600">
              <a:latin typeface="Times New Roman" panose="02020603050405020304" pitchFamily="18" charset="0"/>
              <a:sym typeface="Symbol" pitchFamily="2" charset="2"/>
            </a:endParaRPr>
          </a:p>
          <a:p>
            <a:pPr marL="0" indent="0">
              <a:buFont typeface="Wingdings" pitchFamily="2" charset="2"/>
              <a:buNone/>
            </a:pPr>
            <a:endParaRPr lang="it-IT" altLang="it-IT" sz="2600" i="1">
              <a:latin typeface="Times New Roman" panose="02020603050405020304" pitchFamily="18" charset="0"/>
            </a:endParaRPr>
          </a:p>
          <a:p>
            <a:pPr marL="0" indent="0">
              <a:buFont typeface="Wingdings" pitchFamily="2" charset="2"/>
              <a:buNone/>
            </a:pPr>
            <a:endParaRPr lang="it-IT" altLang="it-IT" sz="2600">
              <a:latin typeface="Times New Roman" panose="02020603050405020304" pitchFamily="18" charset="0"/>
            </a:endParaRPr>
          </a:p>
        </p:txBody>
      </p:sp>
      <p:graphicFrame>
        <p:nvGraphicFramePr>
          <p:cNvPr id="33806" name="Object 14">
            <a:extLst>
              <a:ext uri="{FF2B5EF4-FFF2-40B4-BE49-F238E27FC236}">
                <a16:creationId xmlns:a16="http://schemas.microsoft.com/office/drawing/2014/main" id="{1A9C48E7-F832-0E78-9475-FBC0395280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685800"/>
          <a:ext cx="5562600" cy="418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fico" r:id="rId2" imgW="4927600" imgH="3708400" progId="Excel.Chart.8">
                  <p:embed/>
                </p:oleObj>
              </mc:Choice>
              <mc:Fallback>
                <p:oleObj name="Grafico" r:id="rId2" imgW="4927600" imgH="3708400" progId="Excel.Chart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685800"/>
                        <a:ext cx="5562600" cy="418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5" name="Object 13">
            <a:extLst>
              <a:ext uri="{FF2B5EF4-FFF2-40B4-BE49-F238E27FC236}">
                <a16:creationId xmlns:a16="http://schemas.microsoft.com/office/drawing/2014/main" id="{B3626192-EBF7-7A77-129A-408D2B2F74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1600200"/>
          <a:ext cx="5562600" cy="418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fico" r:id="rId4" imgW="4927600" imgH="3708400" progId="Excel.Chart.8">
                  <p:embed/>
                </p:oleObj>
              </mc:Choice>
              <mc:Fallback>
                <p:oleObj name="Grafico" r:id="rId4" imgW="4927600" imgH="3708400" progId="Excel.Char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600200"/>
                        <a:ext cx="5562600" cy="418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4" name="Object 12">
            <a:extLst>
              <a:ext uri="{FF2B5EF4-FFF2-40B4-BE49-F238E27FC236}">
                <a16:creationId xmlns:a16="http://schemas.microsoft.com/office/drawing/2014/main" id="{AF2CDCEE-61BC-D7CC-A3C6-09F358AD71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2438400"/>
          <a:ext cx="5562600" cy="418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fico" r:id="rId6" imgW="4927600" imgH="3708400" progId="Excel.Chart.8">
                  <p:embed/>
                </p:oleObj>
              </mc:Choice>
              <mc:Fallback>
                <p:oleObj name="Grafico" r:id="rId6" imgW="4927600" imgH="3708400" progId="Excel.Char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438400"/>
                        <a:ext cx="5562600" cy="418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33806" grpId="0"/>
      <p:bldOleChart spid="33805" grpId="0"/>
      <p:bldOleChart spid="3380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0361E34F-D48C-7EC5-8F01-67821D0501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39762"/>
          </a:xfrm>
        </p:spPr>
        <p:txBody>
          <a:bodyPr/>
          <a:lstStyle/>
          <a:p>
            <a:r>
              <a:rPr lang="it-IT" altLang="it-IT" sz="3500">
                <a:latin typeface="Times New Roman" panose="02020603050405020304" pitchFamily="18" charset="0"/>
              </a:rPr>
              <a:t>Diversificazione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2B69475A-9E65-CEF5-99B7-3E8F884FA5A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719263"/>
            <a:ext cx="7712075" cy="3436937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it-IT" altLang="it-IT" sz="2600">
                <a:latin typeface="Times New Roman" panose="02020603050405020304" pitchFamily="18" charset="0"/>
              </a:rPr>
              <a:t>Il rischio di portafoglio può essere minore del rischio dei singoli titoli</a:t>
            </a:r>
          </a:p>
          <a:p>
            <a:pPr marL="0" indent="0">
              <a:buFont typeface="Wingdings" pitchFamily="2" charset="2"/>
              <a:buNone/>
            </a:pPr>
            <a:endParaRPr lang="it-IT" altLang="it-IT" sz="2600" i="1">
              <a:latin typeface="Times New Roman" panose="02020603050405020304" pitchFamily="18" charset="0"/>
            </a:endParaRPr>
          </a:p>
          <a:p>
            <a:pPr marL="0" indent="0">
              <a:buFont typeface="Wingdings" pitchFamily="2" charset="2"/>
              <a:buNone/>
            </a:pPr>
            <a:endParaRPr lang="it-IT" altLang="it-IT" sz="2600">
              <a:latin typeface="Times New Roman" panose="02020603050405020304" pitchFamily="18" charset="0"/>
            </a:endParaRPr>
          </a:p>
        </p:txBody>
      </p:sp>
      <p:graphicFrame>
        <p:nvGraphicFramePr>
          <p:cNvPr id="32772" name="Object 4">
            <a:extLst>
              <a:ext uri="{FF2B5EF4-FFF2-40B4-BE49-F238E27FC236}">
                <a16:creationId xmlns:a16="http://schemas.microsoft.com/office/drawing/2014/main" id="{21ABEAAD-7869-F555-7EF3-2FC25DAE42EF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835025" y="3352800"/>
          <a:ext cx="59467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980600" imgH="6146800" progId="Equation.3">
                  <p:embed/>
                </p:oleObj>
              </mc:Choice>
              <mc:Fallback>
                <p:oleObj name="Equation" r:id="rId2" imgW="47980600" imgH="6146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025" y="3352800"/>
                        <a:ext cx="594677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6">
            <a:extLst>
              <a:ext uri="{FF2B5EF4-FFF2-40B4-BE49-F238E27FC236}">
                <a16:creationId xmlns:a16="http://schemas.microsoft.com/office/drawing/2014/main" id="{5956B16E-B675-B880-115F-579840E38F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0" y="4349750"/>
          <a:ext cx="397827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766000" imgH="4978400" progId="Equation.3">
                  <p:embed/>
                </p:oleObj>
              </mc:Choice>
              <mc:Fallback>
                <p:oleObj name="Equation" r:id="rId4" imgW="32766000" imgH="4978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349750"/>
                        <a:ext cx="3978275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5" name="Rectangle 7">
            <a:extLst>
              <a:ext uri="{FF2B5EF4-FFF2-40B4-BE49-F238E27FC236}">
                <a16:creationId xmlns:a16="http://schemas.microsoft.com/office/drawing/2014/main" id="{803347E4-F380-3F1C-65E6-F9251FEF9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124200"/>
            <a:ext cx="1371600" cy="9906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2776" name="Text Box 8">
            <a:extLst>
              <a:ext uri="{FF2B5EF4-FFF2-40B4-BE49-F238E27FC236}">
                <a16:creationId xmlns:a16="http://schemas.microsoft.com/office/drawing/2014/main" id="{F504EC69-7337-E3D6-0CE0-F4BE1E9BF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590800"/>
            <a:ext cx="2057400" cy="528638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 altLang="it-IT" sz="2800">
                <a:latin typeface="Times New Roman" panose="02020603050405020304" pitchFamily="18" charset="0"/>
                <a:sym typeface="Symbol" pitchFamily="2" charset="2"/>
              </a:rPr>
              <a:t> </a:t>
            </a:r>
            <a:r>
              <a:rPr lang="it-IT" altLang="it-IT" sz="2800" i="1" baseline="-25000">
                <a:latin typeface="Times New Roman" panose="02020603050405020304" pitchFamily="18" charset="0"/>
              </a:rPr>
              <a:t>A</a:t>
            </a:r>
            <a:r>
              <a:rPr lang="it-IT" altLang="it-IT" sz="2800" baseline="30000">
                <a:latin typeface="Times New Roman" panose="02020603050405020304" pitchFamily="18" charset="0"/>
                <a:sym typeface="Symbol" pitchFamily="2" charset="2"/>
              </a:rPr>
              <a:t>2</a:t>
            </a:r>
          </a:p>
        </p:txBody>
      </p:sp>
      <p:sp>
        <p:nvSpPr>
          <p:cNvPr id="32777" name="Rectangle 9">
            <a:extLst>
              <a:ext uri="{FF2B5EF4-FFF2-40B4-BE49-F238E27FC236}">
                <a16:creationId xmlns:a16="http://schemas.microsoft.com/office/drawing/2014/main" id="{CD1B26DA-62F3-BBDC-BB0C-B25E17CBB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048000"/>
            <a:ext cx="2133600" cy="1066800"/>
          </a:xfrm>
          <a:prstGeom prst="rect">
            <a:avLst/>
          </a:prstGeom>
          <a:noFill/>
          <a:ln w="9525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2778" name="Text Box 10">
            <a:extLst>
              <a:ext uri="{FF2B5EF4-FFF2-40B4-BE49-F238E27FC236}">
                <a16:creationId xmlns:a16="http://schemas.microsoft.com/office/drawing/2014/main" id="{A90EB5FE-6554-F983-5B1C-86E85D2B9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2590800"/>
            <a:ext cx="2667000" cy="519113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 altLang="it-IT" sz="2800">
                <a:latin typeface="Times New Roman" panose="02020603050405020304" pitchFamily="18" charset="0"/>
                <a:sym typeface="Symbol" pitchFamily="2" charset="2"/>
              </a:rPr>
              <a:t> </a:t>
            </a:r>
            <a:r>
              <a:rPr lang="it-IT" altLang="it-IT" sz="2800" i="1" baseline="-25000">
                <a:latin typeface="Times New Roman" panose="02020603050405020304" pitchFamily="18" charset="0"/>
              </a:rPr>
              <a:t>B</a:t>
            </a:r>
            <a:r>
              <a:rPr lang="it-IT" altLang="it-IT" sz="2800" baseline="30000">
                <a:latin typeface="Times New Roman" panose="02020603050405020304" pitchFamily="18" charset="0"/>
                <a:sym typeface="Symbol" pitchFamily="2" charset="2"/>
              </a:rPr>
              <a:t>2</a:t>
            </a:r>
          </a:p>
        </p:txBody>
      </p:sp>
      <p:sp>
        <p:nvSpPr>
          <p:cNvPr id="32779" name="Rectangle 11">
            <a:extLst>
              <a:ext uri="{FF2B5EF4-FFF2-40B4-BE49-F238E27FC236}">
                <a16:creationId xmlns:a16="http://schemas.microsoft.com/office/drawing/2014/main" id="{AF4727CE-72AA-9C34-74D3-F36EB516A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267200"/>
            <a:ext cx="3886200" cy="914400"/>
          </a:xfrm>
          <a:prstGeom prst="rect">
            <a:avLst/>
          </a:prstGeom>
          <a:noFill/>
          <a:ln w="9525">
            <a:solidFill>
              <a:srgbClr val="CCE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2780" name="Text Box 12">
            <a:extLst>
              <a:ext uri="{FF2B5EF4-FFF2-40B4-BE49-F238E27FC236}">
                <a16:creationId xmlns:a16="http://schemas.microsoft.com/office/drawing/2014/main" id="{FCCA5A59-5835-4615-9996-A95E501C3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105400"/>
            <a:ext cx="7086600" cy="1169988"/>
          </a:xfrm>
          <a:prstGeom prst="rect">
            <a:avLst/>
          </a:prstGeom>
          <a:solidFill>
            <a:srgbClr val="CCECFF"/>
          </a:solidFill>
          <a:ln w="9525">
            <a:solidFill>
              <a:srgbClr val="CCE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 altLang="it-IT" sz="2800">
                <a:latin typeface="Times New Roman" panose="02020603050405020304" pitchFamily="18" charset="0"/>
              </a:rPr>
              <a:t>Può permettere di eliminare parte del rischio!</a:t>
            </a:r>
          </a:p>
          <a:p>
            <a:pPr algn="ctr">
              <a:spcBef>
                <a:spcPct val="50000"/>
              </a:spcBef>
            </a:pPr>
            <a:r>
              <a:rPr lang="it-IT" altLang="it-IT" sz="2800">
                <a:latin typeface="Times New Roman" panose="02020603050405020304" pitchFamily="18" charset="0"/>
              </a:rPr>
              <a:t>(ad esempio quando </a:t>
            </a:r>
            <a:r>
              <a:rPr lang="it-IT" altLang="it-IT" sz="2800" i="1">
                <a:latin typeface="Times New Roman" panose="02020603050405020304" pitchFamily="18" charset="0"/>
                <a:sym typeface="Symbol" pitchFamily="2" charset="2"/>
              </a:rPr>
              <a:t></a:t>
            </a:r>
            <a:r>
              <a:rPr lang="it-IT" altLang="it-IT" sz="2800" i="1" baseline="-25000">
                <a:latin typeface="Times New Roman" panose="02020603050405020304" pitchFamily="18" charset="0"/>
                <a:sym typeface="Symbol" pitchFamily="2" charset="2"/>
              </a:rPr>
              <a:t>AB</a:t>
            </a:r>
            <a:r>
              <a:rPr lang="it-IT" altLang="it-IT" sz="2800">
                <a:latin typeface="Times New Roman" panose="02020603050405020304" pitchFamily="18" charset="0"/>
                <a:sym typeface="Symbol" pitchFamily="2" charset="2"/>
              </a:rPr>
              <a:t> è negativo)</a:t>
            </a:r>
            <a:endParaRPr lang="it-IT" altLang="it-IT" sz="2800" i="1">
              <a:latin typeface="Times New Roman" panose="02020603050405020304" pitchFamily="18" charset="0"/>
              <a:sym typeface="Symbol" pitchFamily="2" charset="2"/>
            </a:endParaRPr>
          </a:p>
        </p:txBody>
      </p:sp>
    </p:spTree>
  </p:cSld>
  <p:clrMapOvr>
    <a:masterClrMapping/>
  </p:clrMapOvr>
  <p:transition spd="med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6" grpId="0" animBg="1"/>
      <p:bldP spid="32778" grpId="0" animBg="1"/>
      <p:bldP spid="3278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83" name="Line 19">
            <a:extLst>
              <a:ext uri="{FF2B5EF4-FFF2-40B4-BE49-F238E27FC236}">
                <a16:creationId xmlns:a16="http://schemas.microsoft.com/office/drawing/2014/main" id="{E5DAF561-98BC-8F23-5576-3B6B9D8624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2743200"/>
            <a:ext cx="1905000" cy="9906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6880" name="Line 16">
            <a:extLst>
              <a:ext uri="{FF2B5EF4-FFF2-40B4-BE49-F238E27FC236}">
                <a16:creationId xmlns:a16="http://schemas.microsoft.com/office/drawing/2014/main" id="{D2E51A89-B280-8CC9-7478-0585215B6A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9000" y="1981200"/>
            <a:ext cx="1752600" cy="17526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3D55CAAF-572B-5251-78A7-CF62ED220F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15962"/>
          </a:xfrm>
        </p:spPr>
        <p:txBody>
          <a:bodyPr/>
          <a:lstStyle/>
          <a:p>
            <a:r>
              <a:rPr lang="it-IT" altLang="it-IT"/>
              <a:t>Portafoglio</a:t>
            </a:r>
          </a:p>
        </p:txBody>
      </p:sp>
      <p:sp>
        <p:nvSpPr>
          <p:cNvPr id="36867" name="Line 3">
            <a:extLst>
              <a:ext uri="{FF2B5EF4-FFF2-40B4-BE49-F238E27FC236}">
                <a16:creationId xmlns:a16="http://schemas.microsoft.com/office/drawing/2014/main" id="{920C7E61-7F1F-C212-A358-38C2F1E476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1371600"/>
            <a:ext cx="0" cy="480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6868" name="Line 4">
            <a:extLst>
              <a:ext uri="{FF2B5EF4-FFF2-40B4-BE49-F238E27FC236}">
                <a16:creationId xmlns:a16="http://schemas.microsoft.com/office/drawing/2014/main" id="{919C436E-0FC2-7469-22AF-3365DE7B9FAF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57912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6869" name="Text Box 5">
            <a:extLst>
              <a:ext uri="{FF2B5EF4-FFF2-40B4-BE49-F238E27FC236}">
                <a16:creationId xmlns:a16="http://schemas.microsoft.com/office/drawing/2014/main" id="{41F138D5-696F-6E8B-3D1F-29F05FA27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5943600"/>
            <a:ext cx="335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>
                <a:latin typeface="Times New Roman" panose="02020603050405020304" pitchFamily="18" charset="0"/>
              </a:rPr>
              <a:t>Deviazione standard </a:t>
            </a:r>
            <a:r>
              <a:rPr lang="it-IT" altLang="it-IT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it-IT" altLang="it-IT" i="1">
                <a:latin typeface="Times New Roman" panose="02020603050405020304" pitchFamily="18" charset="0"/>
                <a:cs typeface="Times New Roman" panose="02020603050405020304" pitchFamily="18" charset="0"/>
              </a:rPr>
              <a:t>(R)</a:t>
            </a:r>
            <a:r>
              <a:rPr lang="en-US" altLang="it-IT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½</a:t>
            </a:r>
          </a:p>
        </p:txBody>
      </p:sp>
      <p:sp>
        <p:nvSpPr>
          <p:cNvPr id="36870" name="Text Box 6">
            <a:extLst>
              <a:ext uri="{FF2B5EF4-FFF2-40B4-BE49-F238E27FC236}">
                <a16:creationId xmlns:a16="http://schemas.microsoft.com/office/drawing/2014/main" id="{7F3D1AAC-F8D4-028E-9F9A-A81DD5863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371600"/>
            <a:ext cx="11430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>
                <a:latin typeface="Times New Roman" panose="02020603050405020304" pitchFamily="18" charset="0"/>
              </a:rPr>
              <a:t>Media</a:t>
            </a:r>
          </a:p>
          <a:p>
            <a:pPr>
              <a:spcBef>
                <a:spcPct val="50000"/>
              </a:spcBef>
            </a:pPr>
            <a:r>
              <a:rPr lang="it-IT" altLang="it-IT" b="1" i="1">
                <a:latin typeface="Times New Roman" panose="02020603050405020304" pitchFamily="18" charset="0"/>
              </a:rPr>
              <a:t>E</a:t>
            </a:r>
            <a:r>
              <a:rPr lang="it-IT" altLang="it-IT" i="1">
                <a:latin typeface="Times New Roman" panose="02020603050405020304" pitchFamily="18" charset="0"/>
              </a:rPr>
              <a:t>(R)</a:t>
            </a:r>
          </a:p>
        </p:txBody>
      </p:sp>
      <p:sp>
        <p:nvSpPr>
          <p:cNvPr id="36871" name="Line 7">
            <a:extLst>
              <a:ext uri="{FF2B5EF4-FFF2-40B4-BE49-F238E27FC236}">
                <a16:creationId xmlns:a16="http://schemas.microsoft.com/office/drawing/2014/main" id="{FBA63B6C-3576-E08B-BD31-D5E37580EB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1981200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6872" name="Line 8">
            <a:extLst>
              <a:ext uri="{FF2B5EF4-FFF2-40B4-BE49-F238E27FC236}">
                <a16:creationId xmlns:a16="http://schemas.microsoft.com/office/drawing/2014/main" id="{C33880EE-325F-A924-52B6-6DAD63941D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1981200"/>
            <a:ext cx="0" cy="38100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6873" name="Line 9">
            <a:extLst>
              <a:ext uri="{FF2B5EF4-FFF2-40B4-BE49-F238E27FC236}">
                <a16:creationId xmlns:a16="http://schemas.microsoft.com/office/drawing/2014/main" id="{26A8E75A-B20A-2323-0B91-53254558C1D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37338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6874" name="Line 10">
            <a:extLst>
              <a:ext uri="{FF2B5EF4-FFF2-40B4-BE49-F238E27FC236}">
                <a16:creationId xmlns:a16="http://schemas.microsoft.com/office/drawing/2014/main" id="{B91181BB-9883-CA9F-539A-9D6A2B05DF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3733800"/>
            <a:ext cx="0" cy="20574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6875" name="Oval 11">
            <a:extLst>
              <a:ext uri="{FF2B5EF4-FFF2-40B4-BE49-F238E27FC236}">
                <a16:creationId xmlns:a16="http://schemas.microsoft.com/office/drawing/2014/main" id="{520C7B59-2857-E609-C451-81D15976C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6576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6876" name="Oval 12">
            <a:extLst>
              <a:ext uri="{FF2B5EF4-FFF2-40B4-BE49-F238E27FC236}">
                <a16:creationId xmlns:a16="http://schemas.microsoft.com/office/drawing/2014/main" id="{58D292FD-872B-8F31-23CD-6F5B9B170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1905000"/>
            <a:ext cx="152400" cy="1524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6878" name="Text Box 14">
            <a:extLst>
              <a:ext uri="{FF2B5EF4-FFF2-40B4-BE49-F238E27FC236}">
                <a16:creationId xmlns:a16="http://schemas.microsoft.com/office/drawing/2014/main" id="{FEDB3A9A-092D-129F-8068-926FF9D18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1676400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800" i="1">
                <a:solidFill>
                  <a:srgbClr val="00FF00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6879" name="Text Box 15">
            <a:extLst>
              <a:ext uri="{FF2B5EF4-FFF2-40B4-BE49-F238E27FC236}">
                <a16:creationId xmlns:a16="http://schemas.microsoft.com/office/drawing/2014/main" id="{83E57165-8019-19AC-D2DD-E0ED301DE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3733800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800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6881" name="Text Box 17">
            <a:extLst>
              <a:ext uri="{FF2B5EF4-FFF2-40B4-BE49-F238E27FC236}">
                <a16:creationId xmlns:a16="http://schemas.microsoft.com/office/drawing/2014/main" id="{29C5F781-5471-08CC-2A06-181C9D5EF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895600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800" i="1">
                <a:solidFill>
                  <a:srgbClr val="0000FF"/>
                </a:solidFill>
                <a:latin typeface="Times New Roman" panose="02020603050405020304" pitchFamily="18" charset="0"/>
                <a:sym typeface="Symbol" pitchFamily="2" charset="2"/>
              </a:rPr>
              <a:t></a:t>
            </a:r>
            <a:r>
              <a:rPr lang="it-IT" altLang="it-IT" sz="2800" i="1" baseline="-25000">
                <a:solidFill>
                  <a:srgbClr val="0000FF"/>
                </a:solidFill>
                <a:latin typeface="Times New Roman" panose="02020603050405020304" pitchFamily="18" charset="0"/>
                <a:sym typeface="Symbol" pitchFamily="2" charset="2"/>
              </a:rPr>
              <a:t>AB</a:t>
            </a:r>
            <a:r>
              <a:rPr lang="it-IT" altLang="it-IT" sz="2800" i="1">
                <a:solidFill>
                  <a:srgbClr val="0000FF"/>
                </a:solidFill>
                <a:latin typeface="Times New Roman" panose="02020603050405020304" pitchFamily="18" charset="0"/>
                <a:sym typeface="Symbol" pitchFamily="2" charset="2"/>
              </a:rPr>
              <a:t>=1</a:t>
            </a:r>
          </a:p>
        </p:txBody>
      </p:sp>
      <p:sp>
        <p:nvSpPr>
          <p:cNvPr id="36882" name="Line 18">
            <a:extLst>
              <a:ext uri="{FF2B5EF4-FFF2-40B4-BE49-F238E27FC236}">
                <a16:creationId xmlns:a16="http://schemas.microsoft.com/office/drawing/2014/main" id="{802A61A3-6494-FFB4-2754-7313250B18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1981200"/>
            <a:ext cx="3581400" cy="76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6885" name="Text Box 21">
            <a:extLst>
              <a:ext uri="{FF2B5EF4-FFF2-40B4-BE49-F238E27FC236}">
                <a16:creationId xmlns:a16="http://schemas.microsoft.com/office/drawing/2014/main" id="{1F7CE9FC-2381-C457-886C-380B81143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981200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800" i="1">
                <a:solidFill>
                  <a:srgbClr val="0000FF"/>
                </a:solidFill>
                <a:latin typeface="Times New Roman" panose="02020603050405020304" pitchFamily="18" charset="0"/>
                <a:sym typeface="Symbol" pitchFamily="2" charset="2"/>
              </a:rPr>
              <a:t></a:t>
            </a:r>
            <a:r>
              <a:rPr lang="it-IT" altLang="it-IT" sz="2800" i="1" baseline="-25000">
                <a:solidFill>
                  <a:srgbClr val="0000FF"/>
                </a:solidFill>
                <a:latin typeface="Times New Roman" panose="02020603050405020304" pitchFamily="18" charset="0"/>
                <a:sym typeface="Symbol" pitchFamily="2" charset="2"/>
              </a:rPr>
              <a:t>AB </a:t>
            </a:r>
            <a:r>
              <a:rPr lang="it-IT" altLang="it-IT" sz="2800" i="1">
                <a:solidFill>
                  <a:srgbClr val="0000FF"/>
                </a:solidFill>
                <a:latin typeface="Times New Roman" panose="02020603050405020304" pitchFamily="18" charset="0"/>
                <a:sym typeface="Symbol" pitchFamily="2" charset="2"/>
              </a:rPr>
              <a:t>= -1</a:t>
            </a:r>
          </a:p>
        </p:txBody>
      </p:sp>
      <p:sp>
        <p:nvSpPr>
          <p:cNvPr id="36886" name="Text Box 22">
            <a:extLst>
              <a:ext uri="{FF2B5EF4-FFF2-40B4-BE49-F238E27FC236}">
                <a16:creationId xmlns:a16="http://schemas.microsoft.com/office/drawing/2014/main" id="{193D5FF5-8000-7B4A-AFAF-40EFA5F8C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886200"/>
            <a:ext cx="3962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800">
                <a:latin typeface="Times New Roman" panose="02020603050405020304" pitchFamily="18" charset="0"/>
              </a:rPr>
              <a:t>In generale ottengo una curva che collega A a B</a:t>
            </a:r>
          </a:p>
        </p:txBody>
      </p:sp>
      <p:graphicFrame>
        <p:nvGraphicFramePr>
          <p:cNvPr id="36905" name="Object 41">
            <a:extLst>
              <a:ext uri="{FF2B5EF4-FFF2-40B4-BE49-F238E27FC236}">
                <a16:creationId xmlns:a16="http://schemas.microsoft.com/office/drawing/2014/main" id="{17B976CB-829B-0CCE-E13C-AA2AE0666D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838200"/>
          <a:ext cx="6248400" cy="433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fico" r:id="rId2" imgW="5905500" imgH="4102100" progId="Excel.Chart.8">
                  <p:embed/>
                </p:oleObj>
              </mc:Choice>
              <mc:Fallback>
                <p:oleObj name="Grafico" r:id="rId2" imgW="5905500" imgH="4102100" progId="Excel.Chart.8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838200"/>
                        <a:ext cx="6248400" cy="433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06" name="Object 42">
            <a:extLst>
              <a:ext uri="{FF2B5EF4-FFF2-40B4-BE49-F238E27FC236}">
                <a16:creationId xmlns:a16="http://schemas.microsoft.com/office/drawing/2014/main" id="{6D66E87C-E439-0900-E7E1-6DC91E9DB6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1600200"/>
          <a:ext cx="5895975" cy="408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fico" r:id="rId4" imgW="5905500" imgH="4102100" progId="Excel.Chart.8">
                  <p:embed/>
                </p:oleObj>
              </mc:Choice>
              <mc:Fallback>
                <p:oleObj name="Grafico" r:id="rId4" imgW="5905500" imgH="4102100" progId="Excel.Chart.8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600200"/>
                        <a:ext cx="5895975" cy="408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07" name="Object 43">
            <a:extLst>
              <a:ext uri="{FF2B5EF4-FFF2-40B4-BE49-F238E27FC236}">
                <a16:creationId xmlns:a16="http://schemas.microsoft.com/office/drawing/2014/main" id="{6678EAD9-BE2F-58A1-B208-EEB6E1A7B3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2286000"/>
          <a:ext cx="6172200" cy="427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fico" r:id="rId6" imgW="5905500" imgH="4102100" progId="Excel.Chart.8">
                  <p:embed/>
                </p:oleObj>
              </mc:Choice>
              <mc:Fallback>
                <p:oleObj name="Grafico" r:id="rId6" imgW="5905500" imgH="4102100" progId="Excel.Chart.8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286000"/>
                        <a:ext cx="6172200" cy="427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6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6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6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6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6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6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6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36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36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81" grpId="0"/>
      <p:bldP spid="36885" grpId="0"/>
      <p:bldP spid="36886" grpId="0"/>
      <p:bldOleChart spid="36905" grpId="0"/>
      <p:bldOleChart spid="36906" grpId="0"/>
      <p:bldOleChart spid="3690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2CD99B04-8E44-075E-5E7A-FBC28B0807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15962"/>
          </a:xfrm>
        </p:spPr>
        <p:txBody>
          <a:bodyPr/>
          <a:lstStyle/>
          <a:p>
            <a:r>
              <a:rPr lang="it-IT" altLang="it-IT">
                <a:latin typeface="Times New Roman" panose="02020603050405020304" pitchFamily="18" charset="0"/>
              </a:rPr>
              <a:t>Frontiera efficiente</a:t>
            </a:r>
          </a:p>
        </p:txBody>
      </p:sp>
      <p:graphicFrame>
        <p:nvGraphicFramePr>
          <p:cNvPr id="37902" name="Object 14">
            <a:extLst>
              <a:ext uri="{FF2B5EF4-FFF2-40B4-BE49-F238E27FC236}">
                <a16:creationId xmlns:a16="http://schemas.microsoft.com/office/drawing/2014/main" id="{EF800608-673E-11FC-7E4A-D2B581C2EF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1219200"/>
          <a:ext cx="7772400" cy="538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fico" r:id="rId2" imgW="5905500" imgH="4102100" progId="Excel.Chart.8">
                  <p:embed/>
                </p:oleObj>
              </mc:Choice>
              <mc:Fallback>
                <p:oleObj name="Grafico" r:id="rId2" imgW="5905500" imgH="4102100" progId="Excel.Chart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219200"/>
                        <a:ext cx="7772400" cy="538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3" name="Text Box 15">
            <a:extLst>
              <a:ext uri="{FF2B5EF4-FFF2-40B4-BE49-F238E27FC236}">
                <a16:creationId xmlns:a16="http://schemas.microsoft.com/office/drawing/2014/main" id="{EB95C543-873F-E708-9E0C-E21C3F3F6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022725"/>
            <a:ext cx="2133600" cy="7112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000">
                <a:latin typeface="Times New Roman" panose="02020603050405020304" pitchFamily="18" charset="0"/>
              </a:rPr>
              <a:t>Portafoglio con rischio minimo  </a:t>
            </a:r>
            <a:r>
              <a:rPr lang="it-IT" altLang="it-IT" sz="200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37904" name="Text Box 16">
            <a:extLst>
              <a:ext uri="{FF2B5EF4-FFF2-40B4-BE49-F238E27FC236}">
                <a16:creationId xmlns:a16="http://schemas.microsoft.com/office/drawing/2014/main" id="{346B02A6-81C1-E84E-8A5A-AC3E9686F2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4724400"/>
            <a:ext cx="4038600" cy="10160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it-IT" altLang="it-IT" sz="2000">
                <a:latin typeface="Times New Roman" panose="02020603050405020304" pitchFamily="18" charset="0"/>
                <a:cs typeface="Times New Roman" panose="02020603050405020304" pitchFamily="18" charset="0"/>
              </a:rPr>
              <a:t>←      </a:t>
            </a:r>
            <a:r>
              <a:rPr lang="it-IT" altLang="it-IT" sz="2000">
                <a:latin typeface="Times New Roman" panose="02020603050405020304" pitchFamily="18" charset="0"/>
              </a:rPr>
              <a:t>Portafogli non efficienti: con lo stesso rischio si può ottenere un rendimento maggiore!</a:t>
            </a:r>
            <a:endParaRPr lang="it-IT" altLang="it-IT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905" name="Oval 17">
            <a:extLst>
              <a:ext uri="{FF2B5EF4-FFF2-40B4-BE49-F238E27FC236}">
                <a16:creationId xmlns:a16="http://schemas.microsoft.com/office/drawing/2014/main" id="{12A755C1-B902-3967-6C15-E813BFA63B92}"/>
              </a:ext>
            </a:extLst>
          </p:cNvPr>
          <p:cNvSpPr>
            <a:spLocks noChangeArrowheads="1"/>
          </p:cNvSpPr>
          <p:nvPr/>
        </p:nvSpPr>
        <p:spPr bwMode="auto">
          <a:xfrm rot="-1300563">
            <a:off x="2957513" y="2971800"/>
            <a:ext cx="5305425" cy="10668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7906" name="Text Box 18">
            <a:extLst>
              <a:ext uri="{FF2B5EF4-FFF2-40B4-BE49-F238E27FC236}">
                <a16:creationId xmlns:a16="http://schemas.microsoft.com/office/drawing/2014/main" id="{57020ECF-EEDB-4683-0565-C4D957D41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133600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it-IT" altLang="it-IT" sz="2800" i="1">
              <a:latin typeface="Times New Roman" panose="02020603050405020304" pitchFamily="18" charset="0"/>
            </a:endParaRPr>
          </a:p>
        </p:txBody>
      </p:sp>
      <p:sp>
        <p:nvSpPr>
          <p:cNvPr id="37907" name="Text Box 19">
            <a:extLst>
              <a:ext uri="{FF2B5EF4-FFF2-40B4-BE49-F238E27FC236}">
                <a16:creationId xmlns:a16="http://schemas.microsoft.com/office/drawing/2014/main" id="{D2E89473-1504-02BC-F8B8-127729A0E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733800"/>
            <a:ext cx="2286000" cy="4064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000">
                <a:latin typeface="Times New Roman" panose="02020603050405020304" pitchFamily="18" charset="0"/>
              </a:rPr>
              <a:t>Frontiera efficiente</a:t>
            </a:r>
            <a:endParaRPr lang="it-IT" altLang="it-IT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7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7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7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7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37902" grpId="0"/>
      <p:bldP spid="37903" grpId="0" animBg="1"/>
      <p:bldP spid="37904" grpId="0" animBg="1"/>
      <p:bldP spid="3790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EE96CF92-4A15-15CE-1416-38D460D0D5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15962"/>
          </a:xfrm>
        </p:spPr>
        <p:txBody>
          <a:bodyPr/>
          <a:lstStyle/>
          <a:p>
            <a:r>
              <a:rPr lang="it-IT" altLang="it-IT"/>
              <a:t>Esigenze dell’investitore</a:t>
            </a:r>
          </a:p>
        </p:txBody>
      </p:sp>
      <p:graphicFrame>
        <p:nvGraphicFramePr>
          <p:cNvPr id="87044" name="Object 4">
            <a:extLst>
              <a:ext uri="{FF2B5EF4-FFF2-40B4-BE49-F238E27FC236}">
                <a16:creationId xmlns:a16="http://schemas.microsoft.com/office/drawing/2014/main" id="{BD295FF9-75C1-C73F-9BA4-07536EB32A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1219200"/>
          <a:ext cx="7772400" cy="538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fico" r:id="rId2" imgW="5905500" imgH="4102100" progId="Excel.Chart.8">
                  <p:embed/>
                </p:oleObj>
              </mc:Choice>
              <mc:Fallback>
                <p:oleObj name="Grafico" r:id="rId2" imgW="5905500" imgH="4102100" progId="Excel.Char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219200"/>
                        <a:ext cx="7772400" cy="538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6" name="Line 6">
            <a:extLst>
              <a:ext uri="{FF2B5EF4-FFF2-40B4-BE49-F238E27FC236}">
                <a16:creationId xmlns:a16="http://schemas.microsoft.com/office/drawing/2014/main" id="{8FDE5CAA-7D9E-F5A2-79FD-2BB686EAB5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52600" y="4572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7050" name="Line 10">
            <a:extLst>
              <a:ext uri="{FF2B5EF4-FFF2-40B4-BE49-F238E27FC236}">
                <a16:creationId xmlns:a16="http://schemas.microsoft.com/office/drawing/2014/main" id="{09918428-7672-1A79-5946-DCFD63CD62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45720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7051" name="Text Box 11">
            <a:extLst>
              <a:ext uri="{FF2B5EF4-FFF2-40B4-BE49-F238E27FC236}">
                <a16:creationId xmlns:a16="http://schemas.microsoft.com/office/drawing/2014/main" id="{B7DCA9B0-D601-F3CC-84E4-ED9990292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733800"/>
            <a:ext cx="2438400" cy="395288"/>
          </a:xfrm>
          <a:prstGeom prst="rect">
            <a:avLst/>
          </a:prstGeom>
          <a:solidFill>
            <a:srgbClr val="00FF00"/>
          </a:solidFill>
          <a:ln w="28575">
            <a:solidFill>
              <a:srgbClr val="00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>
                <a:latin typeface="Times New Roman" panose="02020603050405020304" pitchFamily="18" charset="0"/>
              </a:rPr>
              <a:t>Investitore prudente</a:t>
            </a:r>
          </a:p>
        </p:txBody>
      </p:sp>
      <p:sp>
        <p:nvSpPr>
          <p:cNvPr id="87052" name="Line 12">
            <a:extLst>
              <a:ext uri="{FF2B5EF4-FFF2-40B4-BE49-F238E27FC236}">
                <a16:creationId xmlns:a16="http://schemas.microsoft.com/office/drawing/2014/main" id="{180A5988-C2C1-D08A-621E-03204B2538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57600" y="4267200"/>
            <a:ext cx="0" cy="1524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7054" name="Line 14">
            <a:extLst>
              <a:ext uri="{FF2B5EF4-FFF2-40B4-BE49-F238E27FC236}">
                <a16:creationId xmlns:a16="http://schemas.microsoft.com/office/drawing/2014/main" id="{8571F01D-8E55-7554-E357-1D5227EB77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52600" y="4267200"/>
            <a:ext cx="1905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7055" name="Text Box 15">
            <a:extLst>
              <a:ext uri="{FF2B5EF4-FFF2-40B4-BE49-F238E27FC236}">
                <a16:creationId xmlns:a16="http://schemas.microsoft.com/office/drawing/2014/main" id="{449B0DBF-B3A8-476A-CF1E-D53AB35D7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5181600"/>
            <a:ext cx="2133600" cy="366713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>
                <a:latin typeface="Times New Roman" panose="02020603050405020304" pitchFamily="18" charset="0"/>
              </a:rPr>
              <a:t>basso rischio</a:t>
            </a:r>
          </a:p>
        </p:txBody>
      </p:sp>
      <p:sp>
        <p:nvSpPr>
          <p:cNvPr id="87056" name="Text Box 16">
            <a:extLst>
              <a:ext uri="{FF2B5EF4-FFF2-40B4-BE49-F238E27FC236}">
                <a16:creationId xmlns:a16="http://schemas.microsoft.com/office/drawing/2014/main" id="{FF901F6E-5EF5-8F1D-9EFB-E4311EEE2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352800"/>
            <a:ext cx="2133600" cy="366713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>
                <a:latin typeface="Times New Roman" panose="02020603050405020304" pitchFamily="18" charset="0"/>
              </a:rPr>
              <a:t>basso rendimento</a:t>
            </a:r>
          </a:p>
        </p:txBody>
      </p:sp>
      <p:sp>
        <p:nvSpPr>
          <p:cNvPr id="87057" name="Text Box 17">
            <a:extLst>
              <a:ext uri="{FF2B5EF4-FFF2-40B4-BE49-F238E27FC236}">
                <a16:creationId xmlns:a16="http://schemas.microsoft.com/office/drawing/2014/main" id="{A9D2EAC5-063D-3D60-F689-B2B041045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2667000"/>
            <a:ext cx="2438400" cy="395288"/>
          </a:xfrm>
          <a:prstGeom prst="rect">
            <a:avLst/>
          </a:prstGeom>
          <a:solidFill>
            <a:srgbClr val="FF0000"/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>
                <a:latin typeface="Times New Roman" panose="02020603050405020304" pitchFamily="18" charset="0"/>
              </a:rPr>
              <a:t>Investitore dinamico</a:t>
            </a:r>
          </a:p>
        </p:txBody>
      </p:sp>
      <p:sp>
        <p:nvSpPr>
          <p:cNvPr id="87059" name="Text Box 19">
            <a:extLst>
              <a:ext uri="{FF2B5EF4-FFF2-40B4-BE49-F238E27FC236}">
                <a16:creationId xmlns:a16="http://schemas.microsoft.com/office/drawing/2014/main" id="{A8E805AE-4867-45C4-D2BE-AFA9BADCD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5181600"/>
            <a:ext cx="3048000" cy="376238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>
                <a:latin typeface="Times New Roman" panose="02020603050405020304" pitchFamily="18" charset="0"/>
              </a:rPr>
              <a:t>elevata propensione al rischio</a:t>
            </a:r>
          </a:p>
        </p:txBody>
      </p:sp>
      <p:sp>
        <p:nvSpPr>
          <p:cNvPr id="87060" name="Text Box 20">
            <a:extLst>
              <a:ext uri="{FF2B5EF4-FFF2-40B4-BE49-F238E27FC236}">
                <a16:creationId xmlns:a16="http://schemas.microsoft.com/office/drawing/2014/main" id="{31BBE2EF-E1CA-4C3F-EF2E-1D8693E67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667000"/>
            <a:ext cx="2133600" cy="376238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>
                <a:latin typeface="Times New Roman" panose="02020603050405020304" pitchFamily="18" charset="0"/>
              </a:rPr>
              <a:t>elevato rendimento</a:t>
            </a:r>
          </a:p>
        </p:txBody>
      </p:sp>
      <p:sp>
        <p:nvSpPr>
          <p:cNvPr id="87061" name="Line 21">
            <a:extLst>
              <a:ext uri="{FF2B5EF4-FFF2-40B4-BE49-F238E27FC236}">
                <a16:creationId xmlns:a16="http://schemas.microsoft.com/office/drawing/2014/main" id="{27C081DF-BD28-4AEF-A9D1-7363C8B4DC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3352800"/>
            <a:ext cx="0" cy="2362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7062" name="Line 22">
            <a:extLst>
              <a:ext uri="{FF2B5EF4-FFF2-40B4-BE49-F238E27FC236}">
                <a16:creationId xmlns:a16="http://schemas.microsoft.com/office/drawing/2014/main" id="{BFB5E22A-DF8A-CBF9-424A-AC67D52205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3352800"/>
            <a:ext cx="3886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 spd="med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87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8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8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8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87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8" dur="500"/>
                                        <p:tgtEl>
                                          <p:spTgt spid="870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1" dur="500"/>
                                        <p:tgtEl>
                                          <p:spTgt spid="870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4" dur="500"/>
                                        <p:tgtEl>
                                          <p:spTgt spid="870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7" dur="500"/>
                                        <p:tgtEl>
                                          <p:spTgt spid="870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0" dur="500"/>
                                        <p:tgtEl>
                                          <p:spTgt spid="87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87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8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87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87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8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87044" grpId="0"/>
      <p:bldP spid="87051" grpId="0" animBg="1"/>
      <p:bldP spid="87051" grpId="1" animBg="1"/>
      <p:bldP spid="87055" grpId="0" animBg="1"/>
      <p:bldP spid="87055" grpId="1" animBg="1"/>
      <p:bldP spid="87056" grpId="0" animBg="1"/>
      <p:bldP spid="87056" grpId="1" animBg="1"/>
      <p:bldP spid="87057" grpId="0" animBg="1"/>
      <p:bldP spid="87059" grpId="0" animBg="1"/>
      <p:bldP spid="8706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32" name="Oval 68">
            <a:extLst>
              <a:ext uri="{FF2B5EF4-FFF2-40B4-BE49-F238E27FC236}">
                <a16:creationId xmlns:a16="http://schemas.microsoft.com/office/drawing/2014/main" id="{A83CF209-6D83-422F-9342-5780ADD8C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2057400"/>
            <a:ext cx="3429000" cy="3429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4F86BEA7-92FD-40E9-DBCE-91FB6DFD49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39762"/>
          </a:xfrm>
        </p:spPr>
        <p:txBody>
          <a:bodyPr/>
          <a:lstStyle/>
          <a:p>
            <a:r>
              <a:rPr lang="it-IT" altLang="it-IT" sz="3500"/>
              <a:t>Portafoglio con tre titoli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5E2C2434-4BE5-7291-A3EB-7DE17517BC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it-IT" altLang="it-IT" sz="2600">
                <a:latin typeface="Times New Roman" panose="02020603050405020304" pitchFamily="18" charset="0"/>
              </a:rPr>
              <a:t>Se nel mercato sono presenti tre titoli dobbiamo considerare</a:t>
            </a:r>
          </a:p>
          <a:p>
            <a:pPr marL="0" indent="0">
              <a:buFont typeface="Wingdings" pitchFamily="2" charset="2"/>
              <a:buNone/>
            </a:pPr>
            <a:endParaRPr lang="it-IT" altLang="it-IT" sz="2600">
              <a:latin typeface="Times New Roman" panose="02020603050405020304" pitchFamily="18" charset="0"/>
            </a:endParaRPr>
          </a:p>
          <a:p>
            <a:pPr marL="0" indent="0">
              <a:buFont typeface="Wingdings" pitchFamily="2" charset="2"/>
              <a:buNone/>
            </a:pPr>
            <a:endParaRPr lang="it-IT" altLang="it-IT" sz="2600">
              <a:latin typeface="Times New Roman" panose="02020603050405020304" pitchFamily="18" charset="0"/>
            </a:endParaRPr>
          </a:p>
          <a:p>
            <a:pPr marL="0" indent="0">
              <a:buFont typeface="Wingdings" pitchFamily="2" charset="2"/>
              <a:buNone/>
            </a:pPr>
            <a:endParaRPr lang="it-IT" altLang="it-IT" sz="2600">
              <a:latin typeface="Times New Roman" panose="02020603050405020304" pitchFamily="18" charset="0"/>
            </a:endParaRPr>
          </a:p>
          <a:p>
            <a:pPr marL="0" indent="0">
              <a:buFont typeface="Wingdings" pitchFamily="2" charset="2"/>
              <a:buNone/>
            </a:pPr>
            <a:endParaRPr lang="it-IT" altLang="it-IT" sz="2600">
              <a:latin typeface="Times New Roman" panose="02020603050405020304" pitchFamily="18" charset="0"/>
            </a:endParaRPr>
          </a:p>
          <a:p>
            <a:pPr marL="0" indent="0">
              <a:buFont typeface="Wingdings" pitchFamily="2" charset="2"/>
              <a:buNone/>
            </a:pPr>
            <a:endParaRPr lang="it-IT" altLang="it-IT" sz="2600">
              <a:latin typeface="Times New Roman" panose="02020603050405020304" pitchFamily="18" charset="0"/>
            </a:endParaRPr>
          </a:p>
          <a:p>
            <a:pPr marL="0" indent="0">
              <a:buFont typeface="Wingdings" pitchFamily="2" charset="2"/>
              <a:buNone/>
            </a:pPr>
            <a:endParaRPr lang="it-IT" altLang="it-IT" sz="2600">
              <a:latin typeface="Times New Roman" panose="02020603050405020304" pitchFamily="18" charset="0"/>
            </a:endParaRPr>
          </a:p>
          <a:p>
            <a:pPr marL="0" indent="0">
              <a:buFont typeface="Wingdings" pitchFamily="2" charset="2"/>
              <a:buNone/>
            </a:pPr>
            <a:endParaRPr lang="it-IT" altLang="it-IT" sz="2600">
              <a:latin typeface="Times New Roman" panose="02020603050405020304" pitchFamily="18" charset="0"/>
            </a:endParaRPr>
          </a:p>
          <a:p>
            <a:pPr marL="0" indent="0">
              <a:buFont typeface="Wingdings" pitchFamily="2" charset="2"/>
              <a:buNone/>
            </a:pPr>
            <a:r>
              <a:rPr lang="it-IT" altLang="it-IT" sz="2600">
                <a:latin typeface="Times New Roman" panose="02020603050405020304" pitchFamily="18" charset="0"/>
              </a:rPr>
              <a:t>Come gestiamo questo aumento di dimensione?</a:t>
            </a:r>
          </a:p>
          <a:p>
            <a:pPr marL="0" indent="0"/>
            <a:endParaRPr lang="it-IT" altLang="it-IT" sz="2600">
              <a:latin typeface="Times New Roman" panose="02020603050405020304" pitchFamily="18" charset="0"/>
            </a:endParaRPr>
          </a:p>
        </p:txBody>
      </p:sp>
      <p:graphicFrame>
        <p:nvGraphicFramePr>
          <p:cNvPr id="88127" name="Group 63">
            <a:extLst>
              <a:ext uri="{FF2B5EF4-FFF2-40B4-BE49-F238E27FC236}">
                <a16:creationId xmlns:a16="http://schemas.microsoft.com/office/drawing/2014/main" id="{7D73CF2A-EC07-9FBF-CE67-DD771EC7395C}"/>
              </a:ext>
            </a:extLst>
          </p:cNvPr>
          <p:cNvGraphicFramePr>
            <a:graphicFrameLocks noGrp="1"/>
          </p:cNvGraphicFramePr>
          <p:nvPr/>
        </p:nvGraphicFramePr>
        <p:xfrm>
          <a:off x="4419600" y="2895600"/>
          <a:ext cx="2743200" cy="2057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312670394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85349278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559065310"/>
                    </a:ext>
                  </a:extLst>
                </a:gridCol>
              </a:tblGrid>
              <a:tr h="685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itchFamily="2" charset="2"/>
                        </a:rPr>
                        <a:t></a:t>
                      </a:r>
                      <a:r>
                        <a:rPr kumimoji="0" lang="it-IT" altLang="it-IT" sz="2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itchFamily="2" charset="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itchFamily="2" charset="2"/>
                        </a:rPr>
                        <a:t></a:t>
                      </a:r>
                      <a:r>
                        <a:rPr kumimoji="0" lang="it-IT" altLang="it-IT" sz="2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itchFamily="2" charset="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itchFamily="2" charset="2"/>
                        </a:rPr>
                        <a:t></a:t>
                      </a:r>
                      <a:r>
                        <a:rPr kumimoji="0" lang="it-IT" altLang="it-IT" sz="2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itchFamily="2" charset="2"/>
                        </a:rPr>
                        <a:t>13</a:t>
                      </a:r>
                      <a:endParaRPr kumimoji="0" lang="it-IT" altLang="it-IT" sz="2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sym typeface="Symbol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6520352"/>
                  </a:ext>
                </a:extLst>
              </a:tr>
              <a:tr h="685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it-IT" altLang="it-IT" sz="2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itchFamily="2" charset="2"/>
                        </a:rPr>
                        <a:t></a:t>
                      </a:r>
                      <a:r>
                        <a:rPr kumimoji="0" lang="it-IT" altLang="it-IT" sz="2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itchFamily="2" charset="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itchFamily="2" charset="2"/>
                        </a:rPr>
                        <a:t></a:t>
                      </a:r>
                      <a:r>
                        <a:rPr kumimoji="0" lang="it-IT" altLang="it-IT" sz="2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itchFamily="2" charset="2"/>
                        </a:rPr>
                        <a:t>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68937"/>
                  </a:ext>
                </a:extLst>
              </a:tr>
              <a:tr h="685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it-IT" altLang="it-IT" sz="2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it-IT" altLang="it-IT" sz="2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itchFamily="2" charset="2"/>
                        </a:rPr>
                        <a:t></a:t>
                      </a:r>
                      <a:r>
                        <a:rPr kumimoji="0" lang="it-IT" altLang="it-IT" sz="2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itchFamily="2" charset="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3246623"/>
                  </a:ext>
                </a:extLst>
              </a:tr>
            </a:tbl>
          </a:graphicData>
        </a:graphic>
      </p:graphicFrame>
      <p:graphicFrame>
        <p:nvGraphicFramePr>
          <p:cNvPr id="88128" name="Group 64">
            <a:extLst>
              <a:ext uri="{FF2B5EF4-FFF2-40B4-BE49-F238E27FC236}">
                <a16:creationId xmlns:a16="http://schemas.microsoft.com/office/drawing/2014/main" id="{40E433A5-594C-0448-D259-AF484AEF1BD1}"/>
              </a:ext>
            </a:extLst>
          </p:cNvPr>
          <p:cNvGraphicFramePr>
            <a:graphicFrameLocks noGrp="1"/>
          </p:cNvGraphicFramePr>
          <p:nvPr/>
        </p:nvGraphicFramePr>
        <p:xfrm>
          <a:off x="2590800" y="2895600"/>
          <a:ext cx="914400" cy="2057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329725027"/>
                    </a:ext>
                  </a:extLst>
                </a:gridCol>
              </a:tblGrid>
              <a:tr h="685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</a:t>
                      </a:r>
                      <a:r>
                        <a:rPr kumimoji="0" lang="it-IT" altLang="it-IT" sz="2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880390"/>
                  </a:ext>
                </a:extLst>
              </a:tr>
              <a:tr h="685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</a:t>
                      </a:r>
                      <a:r>
                        <a:rPr kumimoji="0" lang="it-IT" altLang="it-IT" sz="2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kumimoji="0" lang="it-IT" altLang="it-IT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947429"/>
                  </a:ext>
                </a:extLst>
              </a:tr>
              <a:tr h="685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</a:t>
                      </a:r>
                      <a:r>
                        <a:rPr kumimoji="0" lang="it-IT" altLang="it-IT" sz="2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kumimoji="0" lang="it-IT" altLang="it-IT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687401"/>
                  </a:ext>
                </a:extLst>
              </a:tr>
            </a:tbl>
          </a:graphicData>
        </a:graphic>
      </p:graphicFrame>
      <p:sp>
        <p:nvSpPr>
          <p:cNvPr id="88129" name="Text Box 65">
            <a:extLst>
              <a:ext uri="{FF2B5EF4-FFF2-40B4-BE49-F238E27FC236}">
                <a16:creationId xmlns:a16="http://schemas.microsoft.com/office/drawing/2014/main" id="{217A54C0-BAFC-93D0-AA77-0B186D538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429000"/>
            <a:ext cx="1752600" cy="1004888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 altLang="it-IT" sz="2400">
                <a:latin typeface="Times New Roman" panose="02020603050405020304" pitchFamily="18" charset="0"/>
              </a:rPr>
              <a:t>Rendimenti</a:t>
            </a:r>
          </a:p>
          <a:p>
            <a:pPr algn="ctr">
              <a:spcBef>
                <a:spcPct val="50000"/>
              </a:spcBef>
            </a:pPr>
            <a:r>
              <a:rPr lang="it-IT" altLang="it-IT" sz="2400">
                <a:latin typeface="Times New Roman" panose="02020603050405020304" pitchFamily="18" charset="0"/>
              </a:rPr>
              <a:t>attesi</a:t>
            </a:r>
          </a:p>
        </p:txBody>
      </p:sp>
      <p:sp>
        <p:nvSpPr>
          <p:cNvPr id="88130" name="Text Box 66">
            <a:extLst>
              <a:ext uri="{FF2B5EF4-FFF2-40B4-BE49-F238E27FC236}">
                <a16:creationId xmlns:a16="http://schemas.microsoft.com/office/drawing/2014/main" id="{659B7046-CF58-49A5-3353-BBC5B7ACA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3048000"/>
            <a:ext cx="1828800" cy="155257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400">
                <a:latin typeface="Times New Roman" panose="02020603050405020304" pitchFamily="18" charset="0"/>
              </a:rPr>
              <a:t>Rischio e </a:t>
            </a:r>
          </a:p>
          <a:p>
            <a:pPr>
              <a:spcBef>
                <a:spcPct val="50000"/>
              </a:spcBef>
            </a:pPr>
            <a:r>
              <a:rPr lang="it-IT" altLang="it-IT" sz="2400">
                <a:latin typeface="Times New Roman" panose="02020603050405020304" pitchFamily="18" charset="0"/>
              </a:rPr>
              <a:t>correlazione</a:t>
            </a:r>
          </a:p>
          <a:p>
            <a:pPr>
              <a:spcBef>
                <a:spcPct val="50000"/>
              </a:spcBef>
            </a:pPr>
            <a:r>
              <a:rPr lang="it-IT" altLang="it-IT" sz="2400">
                <a:latin typeface="Times New Roman" panose="02020603050405020304" pitchFamily="18" charset="0"/>
              </a:rPr>
              <a:t>tra titoli</a:t>
            </a:r>
          </a:p>
        </p:txBody>
      </p:sp>
      <p:sp>
        <p:nvSpPr>
          <p:cNvPr id="88131" name="Oval 67">
            <a:extLst>
              <a:ext uri="{FF2B5EF4-FFF2-40B4-BE49-F238E27FC236}">
                <a16:creationId xmlns:a16="http://schemas.microsoft.com/office/drawing/2014/main" id="{9355EB40-30FD-A45C-9CEB-F39C63312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590800"/>
            <a:ext cx="2133600" cy="2667000"/>
          </a:xfrm>
          <a:prstGeom prst="ellips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Ovr>
    <a:masterClrMapping/>
  </p:clrMapOvr>
  <p:transition spd="med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8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8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8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8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8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8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129" grpId="0" animBg="1"/>
      <p:bldP spid="8813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66F94A76-94C6-99A4-2F38-5949AA2D40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39762"/>
          </a:xfrm>
        </p:spPr>
        <p:txBody>
          <a:bodyPr/>
          <a:lstStyle/>
          <a:p>
            <a:r>
              <a:rPr lang="it-IT" altLang="it-IT" sz="3500"/>
              <a:t>Soluzione numerica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03F3CD0C-8592-3092-38CB-8843EC1422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Wingdings" pitchFamily="2" charset="2"/>
              <a:buNone/>
            </a:pPr>
            <a:r>
              <a:rPr lang="it-IT" altLang="it-IT" sz="2800">
                <a:latin typeface="Times New Roman" panose="02020603050405020304" pitchFamily="18" charset="0"/>
              </a:rPr>
              <a:t>Formalizziamo il problema</a:t>
            </a:r>
          </a:p>
          <a:p>
            <a:pPr marL="571500" indent="-571500">
              <a:lnSpc>
                <a:spcPct val="90000"/>
              </a:lnSpc>
              <a:buFont typeface="Wingdings" pitchFamily="2" charset="2"/>
              <a:buNone/>
            </a:pPr>
            <a:endParaRPr lang="it-IT" altLang="it-IT" sz="2800">
              <a:latin typeface="Times New Roman" panose="02020603050405020304" pitchFamily="18" charset="0"/>
            </a:endParaRPr>
          </a:p>
          <a:p>
            <a:pPr marL="571500" indent="-5715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it-IT" altLang="it-IT" sz="2800">
                <a:latin typeface="Times New Roman" panose="02020603050405020304" pitchFamily="18" charset="0"/>
              </a:rPr>
              <a:t>Il cliente ci chiede di individuare un investimento che permetta di ottenere un rendimento atteso pari ad </a:t>
            </a:r>
            <a:r>
              <a:rPr lang="it-IT" altLang="it-IT" sz="2800" i="1">
                <a:latin typeface="Times New Roman" panose="02020603050405020304" pitchFamily="18" charset="0"/>
              </a:rPr>
              <a:t>r</a:t>
            </a:r>
          </a:p>
          <a:p>
            <a:pPr marL="571500" indent="-5715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it-IT" altLang="it-IT" sz="2800">
                <a:latin typeface="Times New Roman" panose="02020603050405020304" pitchFamily="18" charset="0"/>
              </a:rPr>
              <a:t>Tra tutte le asset allocation possibili dobbiamo individuare quella meno rischiosa</a:t>
            </a:r>
          </a:p>
          <a:p>
            <a:pPr marL="571500" indent="-5715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it-IT" altLang="it-IT" sz="2800">
                <a:latin typeface="Times New Roman" panose="02020603050405020304" pitchFamily="18" charset="0"/>
              </a:rPr>
              <a:t>Una volta noti i dati possiamo utilizzare Excel per individuare l’asset allocation richiesta</a:t>
            </a:r>
          </a:p>
          <a:p>
            <a:pPr marL="571500" indent="-571500">
              <a:lnSpc>
                <a:spcPct val="90000"/>
              </a:lnSpc>
            </a:pPr>
            <a:endParaRPr lang="it-IT" altLang="it-IT" sz="2800">
              <a:latin typeface="Times New Roman" panose="02020603050405020304" pitchFamily="18" charset="0"/>
            </a:endParaRPr>
          </a:p>
          <a:p>
            <a:pPr marL="571500" indent="-571500">
              <a:lnSpc>
                <a:spcPct val="90000"/>
              </a:lnSpc>
            </a:pPr>
            <a:endParaRPr lang="it-IT" altLang="it-IT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D52C61D4-5022-006C-4138-09D652CD08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39762"/>
          </a:xfrm>
        </p:spPr>
        <p:txBody>
          <a:bodyPr/>
          <a:lstStyle/>
          <a:p>
            <a:r>
              <a:rPr lang="it-IT" altLang="it-IT" sz="3500"/>
              <a:t>Risolutore Excel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65E20CCC-DC02-F483-E616-8575CDEE3D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411663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endParaRPr lang="it-IT" altLang="it-IT" sz="2600"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it-IT" altLang="it-IT" sz="2600">
                <a:latin typeface="Times New Roman" panose="02020603050405020304" pitchFamily="18" charset="0"/>
              </a:rPr>
              <a:t>Il risolutore è un plug-in gratuito che è presente in tutte le versioni di Excel e che permette di risolvere numericamente dei problemi di massimo o minimo vincolato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endParaRPr lang="it-IT" altLang="it-IT" sz="2600"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it-IT" altLang="it-IT" sz="2600">
                <a:latin typeface="Times New Roman" panose="02020603050405020304" pitchFamily="18" charset="0"/>
              </a:rPr>
              <a:t>Per utilizzarlo è necessario attivarlo nel menù relativo ai componenti aggiuntivi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endParaRPr lang="it-IT" altLang="it-IT" sz="2600"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it-IT" altLang="it-IT" sz="2600">
                <a:latin typeface="Times New Roman" panose="02020603050405020304" pitchFamily="18" charset="0"/>
              </a:rPr>
              <a:t>Una volta selezionato in questo menù compare automaticamente tra gli Strumenti all’apertura di Excel</a:t>
            </a:r>
          </a:p>
          <a:p>
            <a:pPr marL="0" indent="0">
              <a:lnSpc>
                <a:spcPct val="90000"/>
              </a:lnSpc>
            </a:pPr>
            <a:endParaRPr lang="it-IT" altLang="it-IT" sz="2600"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</a:pPr>
            <a:endParaRPr lang="it-IT" altLang="it-IT" sz="2600">
              <a:latin typeface="Times New Roman" panose="02020603050405020304" pitchFamily="18" charset="0"/>
            </a:endParaRPr>
          </a:p>
        </p:txBody>
      </p:sp>
      <p:graphicFrame>
        <p:nvGraphicFramePr>
          <p:cNvPr id="90116" name="Object 4">
            <a:extLst>
              <a:ext uri="{FF2B5EF4-FFF2-40B4-BE49-F238E27FC236}">
                <a16:creationId xmlns:a16="http://schemas.microsoft.com/office/drawing/2014/main" id="{F4B46DE6-BE0E-9415-0CE6-433931DB5C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609600"/>
          <a:ext cx="7924800" cy="563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 bitmap" r:id="rId2" imgW="4241800" imgH="3016250" progId="Paint.Picture">
                  <p:embed/>
                </p:oleObj>
              </mc:Choice>
              <mc:Fallback>
                <p:oleObj name="Immagine bitmap" r:id="rId2" imgW="4241800" imgH="301625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609600"/>
                        <a:ext cx="7924800" cy="563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7" name="Oval 5">
            <a:extLst>
              <a:ext uri="{FF2B5EF4-FFF2-40B4-BE49-F238E27FC236}">
                <a16:creationId xmlns:a16="http://schemas.microsoft.com/office/drawing/2014/main" id="{0C24E9F8-342E-75AB-AB29-8564718E8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648200"/>
            <a:ext cx="3352800" cy="533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graphicFrame>
        <p:nvGraphicFramePr>
          <p:cNvPr id="90119" name="Object 7">
            <a:extLst>
              <a:ext uri="{FF2B5EF4-FFF2-40B4-BE49-F238E27FC236}">
                <a16:creationId xmlns:a16="http://schemas.microsoft.com/office/drawing/2014/main" id="{0E126D59-A9FC-23EE-42B0-2EDDBFDD28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03625" y="2667000"/>
          <a:ext cx="3482975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 bitmap" r:id="rId4" imgW="2247900" imgH="2311400" progId="Paint.Picture">
                  <p:embed/>
                </p:oleObj>
              </mc:Choice>
              <mc:Fallback>
                <p:oleObj name="Immagine bitmap" r:id="rId4" imgW="2247900" imgH="2311400" progId="Paint.Picture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3625" y="2667000"/>
                        <a:ext cx="3482975" cy="358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0" name="Oval 8">
            <a:extLst>
              <a:ext uri="{FF2B5EF4-FFF2-40B4-BE49-F238E27FC236}">
                <a16:creationId xmlns:a16="http://schemas.microsoft.com/office/drawing/2014/main" id="{592E3A1D-5590-81BF-4CC0-6EEFBE70B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2971800"/>
            <a:ext cx="2590800" cy="457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graphicFrame>
        <p:nvGraphicFramePr>
          <p:cNvPr id="90122" name="Object 10">
            <a:extLst>
              <a:ext uri="{FF2B5EF4-FFF2-40B4-BE49-F238E27FC236}">
                <a16:creationId xmlns:a16="http://schemas.microsoft.com/office/drawing/2014/main" id="{E8C023B4-A489-DEB9-E384-0771021DA4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2667000"/>
          <a:ext cx="7456488" cy="179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 bitmap" r:id="rId6" imgW="4972050" imgH="1193800" progId="Paint.Picture">
                  <p:embed/>
                </p:oleObj>
              </mc:Choice>
              <mc:Fallback>
                <p:oleObj name="Immagine bitmap" r:id="rId6" imgW="4972050" imgH="1193800" progId="Paint.Picture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667000"/>
                        <a:ext cx="7456488" cy="179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3" name="Oval 11">
            <a:extLst>
              <a:ext uri="{FF2B5EF4-FFF2-40B4-BE49-F238E27FC236}">
                <a16:creationId xmlns:a16="http://schemas.microsoft.com/office/drawing/2014/main" id="{E3DC7ABA-A3FA-1102-0AC2-C8B82D876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200400"/>
            <a:ext cx="22860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Ovr>
    <a:masterClrMapping/>
  </p:clrMapOvr>
  <p:transition spd="med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9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2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5" dur="5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8" dur="5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1" dur="500"/>
                                        <p:tgtEl>
                                          <p:spTgt spid="90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90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9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AA226628-E642-89DB-A726-D8D1C03960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39762"/>
          </a:xfrm>
        </p:spPr>
        <p:txBody>
          <a:bodyPr/>
          <a:lstStyle/>
          <a:p>
            <a:r>
              <a:rPr lang="it-IT" altLang="it-IT" sz="3500"/>
              <a:t>Impostare il risolutore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3BCBEE63-ED95-18A0-7A38-07C0708FFA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it-IT" altLang="it-IT" sz="2600">
                <a:latin typeface="Times New Roman" panose="02020603050405020304" pitchFamily="18" charset="0"/>
              </a:rPr>
              <a:t>Per utilizzare il Risolutore dobbiamo, prima di tutto, impostare correttamente tutti i dati e le variabili sul foglio Excel</a:t>
            </a:r>
          </a:p>
          <a:p>
            <a:pPr marL="0" indent="0">
              <a:buFont typeface="Wingdings" pitchFamily="2" charset="2"/>
              <a:buNone/>
            </a:pPr>
            <a:endParaRPr lang="it-IT" altLang="it-IT" sz="1400">
              <a:latin typeface="Times New Roman" panose="02020603050405020304" pitchFamily="18" charset="0"/>
            </a:endParaRPr>
          </a:p>
          <a:p>
            <a:pPr marL="0" indent="0">
              <a:buFont typeface="Wingdings" pitchFamily="2" charset="2"/>
              <a:buNone/>
            </a:pPr>
            <a:r>
              <a:rPr lang="it-IT" altLang="it-IT" sz="2600">
                <a:latin typeface="Times New Roman" panose="02020603050405020304" pitchFamily="18" charset="0"/>
              </a:rPr>
              <a:t>Impostiamo i dati del nostro problema</a:t>
            </a:r>
          </a:p>
          <a:p>
            <a:pPr marL="0" indent="0">
              <a:buFont typeface="Wingdings" pitchFamily="2" charset="2"/>
              <a:buNone/>
            </a:pPr>
            <a:endParaRPr lang="it-IT" altLang="it-IT" sz="1400">
              <a:latin typeface="Times New Roman" panose="02020603050405020304" pitchFamily="18" charset="0"/>
            </a:endParaRPr>
          </a:p>
          <a:p>
            <a:pPr marL="0" indent="0">
              <a:buFont typeface="Wingdings" pitchFamily="2" charset="2"/>
              <a:buNone/>
            </a:pPr>
            <a:r>
              <a:rPr lang="it-IT" altLang="it-IT" sz="2600">
                <a:latin typeface="Times New Roman" panose="02020603050405020304" pitchFamily="18" charset="0"/>
              </a:rPr>
              <a:t>Introduciamo i pesi che caratterizzano il nostro portafoglio</a:t>
            </a:r>
          </a:p>
          <a:p>
            <a:pPr marL="0" indent="0">
              <a:buFont typeface="Wingdings" pitchFamily="2" charset="2"/>
              <a:buNone/>
            </a:pPr>
            <a:endParaRPr lang="it-IT" altLang="it-IT" sz="1400">
              <a:latin typeface="Times New Roman" panose="02020603050405020304" pitchFamily="18" charset="0"/>
            </a:endParaRPr>
          </a:p>
          <a:p>
            <a:pPr marL="0" indent="0">
              <a:buFont typeface="Wingdings" pitchFamily="2" charset="2"/>
              <a:buNone/>
            </a:pPr>
            <a:r>
              <a:rPr lang="it-IT" altLang="it-IT" sz="2600">
                <a:latin typeface="Times New Roman" panose="02020603050405020304" pitchFamily="18" charset="0"/>
              </a:rPr>
              <a:t>A questo punto dobbiamo trovare il rendimento atteso e il rischio legato a questo portafoglio</a:t>
            </a:r>
          </a:p>
          <a:p>
            <a:pPr marL="0" indent="0"/>
            <a:endParaRPr lang="it-IT" altLang="it-IT" sz="2600">
              <a:latin typeface="Times New Roman" panose="02020603050405020304" pitchFamily="18" charset="0"/>
            </a:endParaRPr>
          </a:p>
        </p:txBody>
      </p:sp>
      <p:graphicFrame>
        <p:nvGraphicFramePr>
          <p:cNvPr id="91141" name="Object 5">
            <a:extLst>
              <a:ext uri="{FF2B5EF4-FFF2-40B4-BE49-F238E27FC236}">
                <a16:creationId xmlns:a16="http://schemas.microsoft.com/office/drawing/2014/main" id="{553D41BE-2746-1105-FEA4-7C7F30EE39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3276600"/>
          <a:ext cx="6916738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 bitmap" r:id="rId2" imgW="4610100" imgH="1625600" progId="Paint.Picture">
                  <p:embed/>
                </p:oleObj>
              </mc:Choice>
              <mc:Fallback>
                <p:oleObj name="Immagine bitmap" r:id="rId2" imgW="4610100" imgH="1625600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276600"/>
                        <a:ext cx="6916738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2" name="Oval 6">
            <a:extLst>
              <a:ext uri="{FF2B5EF4-FFF2-40B4-BE49-F238E27FC236}">
                <a16:creationId xmlns:a16="http://schemas.microsoft.com/office/drawing/2014/main" id="{02AE6CD2-4905-CF70-19B4-3275A2F1D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114800"/>
            <a:ext cx="2057400" cy="1447800"/>
          </a:xfrm>
          <a:prstGeom prst="ellips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91143" name="Text Box 7">
            <a:extLst>
              <a:ext uri="{FF2B5EF4-FFF2-40B4-BE49-F238E27FC236}">
                <a16:creationId xmlns:a16="http://schemas.microsoft.com/office/drawing/2014/main" id="{AD1F318A-326F-5057-ABE5-29479A0FD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562600"/>
            <a:ext cx="2209800" cy="641350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 altLang="it-IT">
                <a:latin typeface="Times New Roman" panose="02020603050405020304" pitchFamily="18" charset="0"/>
              </a:rPr>
              <a:t>Rendimento atteso dei singoli titoli</a:t>
            </a:r>
          </a:p>
        </p:txBody>
      </p:sp>
      <p:sp>
        <p:nvSpPr>
          <p:cNvPr id="91144" name="Oval 8">
            <a:extLst>
              <a:ext uri="{FF2B5EF4-FFF2-40B4-BE49-F238E27FC236}">
                <a16:creationId xmlns:a16="http://schemas.microsoft.com/office/drawing/2014/main" id="{5BBB114C-4CB9-1782-A684-8F1255AA7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343400"/>
            <a:ext cx="2743200" cy="10668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91146" name="Text Box 10">
            <a:extLst>
              <a:ext uri="{FF2B5EF4-FFF2-40B4-BE49-F238E27FC236}">
                <a16:creationId xmlns:a16="http://schemas.microsoft.com/office/drawing/2014/main" id="{7479EDAD-77A7-F06E-C19F-AD3241BEA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5410200"/>
            <a:ext cx="2743200" cy="64135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 altLang="it-IT">
                <a:latin typeface="Times New Roman" panose="02020603050405020304" pitchFamily="18" charset="0"/>
              </a:rPr>
              <a:t>Rischio dei singoli titoli e loro correlazione</a:t>
            </a:r>
          </a:p>
        </p:txBody>
      </p:sp>
      <p:graphicFrame>
        <p:nvGraphicFramePr>
          <p:cNvPr id="91149" name="Object 13">
            <a:extLst>
              <a:ext uri="{FF2B5EF4-FFF2-40B4-BE49-F238E27FC236}">
                <a16:creationId xmlns:a16="http://schemas.microsoft.com/office/drawing/2014/main" id="{97E2F078-B6C0-40CD-8647-67178A25CF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0"/>
          <a:ext cx="6973888" cy="324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 bitmap" r:id="rId4" imgW="4648200" imgH="2165350" progId="Paint.Picture">
                  <p:embed/>
                </p:oleObj>
              </mc:Choice>
              <mc:Fallback>
                <p:oleObj name="Immagine bitmap" r:id="rId4" imgW="4648200" imgH="2165350" progId="Paint.Picture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0"/>
                        <a:ext cx="6973888" cy="324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50" name="Oval 14">
            <a:extLst>
              <a:ext uri="{FF2B5EF4-FFF2-40B4-BE49-F238E27FC236}">
                <a16:creationId xmlns:a16="http://schemas.microsoft.com/office/drawing/2014/main" id="{E02FC2B1-0300-5D50-31B0-0AB73A3E7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905000"/>
            <a:ext cx="3124200" cy="1143000"/>
          </a:xfrm>
          <a:prstGeom prst="ellips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91151" name="Text Box 15">
            <a:extLst>
              <a:ext uri="{FF2B5EF4-FFF2-40B4-BE49-F238E27FC236}">
                <a16:creationId xmlns:a16="http://schemas.microsoft.com/office/drawing/2014/main" id="{505C336C-A78E-B909-DB01-98D96826C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133600"/>
            <a:ext cx="3886200" cy="64135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 altLang="it-IT"/>
              <a:t>Percentuali del capitale investite nei singoli titoli</a:t>
            </a:r>
          </a:p>
        </p:txBody>
      </p:sp>
    </p:spTree>
  </p:cSld>
  <p:clrMapOvr>
    <a:masterClrMapping/>
  </p:clrMapOvr>
  <p:transition spd="med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9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9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9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9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7" dur="5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0" dur="500"/>
                                        <p:tgtEl>
                                          <p:spTgt spid="91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3" dur="500"/>
                                        <p:tgtEl>
                                          <p:spTgt spid="91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6" dur="500"/>
                                        <p:tgtEl>
                                          <p:spTgt spid="91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9" dur="500"/>
                                        <p:tgtEl>
                                          <p:spTgt spid="91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91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9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9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91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3" grpId="0" animBg="1"/>
      <p:bldP spid="91143" grpId="1" animBg="1"/>
      <p:bldP spid="91146" grpId="0" animBg="1"/>
      <p:bldP spid="91146" grpId="1" animBg="1"/>
      <p:bldP spid="9115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622A38E4-DC9A-5267-70CC-82BD27DCB8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39762"/>
          </a:xfrm>
        </p:spPr>
        <p:txBody>
          <a:bodyPr/>
          <a:lstStyle/>
          <a:p>
            <a:r>
              <a:rPr lang="it-IT" altLang="it-IT" sz="3500"/>
              <a:t>Rendimento e rischio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1539DD4D-1ACC-A4AD-08C5-BC33BEB72B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6075" indent="-346075">
              <a:buFont typeface="Wingdings" pitchFamily="2" charset="2"/>
              <a:buNone/>
            </a:pPr>
            <a:r>
              <a:rPr lang="it-IT" altLang="it-IT" sz="2600">
                <a:latin typeface="Times New Roman" panose="02020603050405020304" pitchFamily="18" charset="0"/>
              </a:rPr>
              <a:t>Il calcolo del rendimento atteso e del rischio si possono impostare in modo semplice</a:t>
            </a:r>
          </a:p>
          <a:p>
            <a:pPr marL="346075" indent="-346075">
              <a:buFont typeface="Wingdings" pitchFamily="2" charset="2"/>
              <a:buNone/>
            </a:pPr>
            <a:endParaRPr lang="it-IT" altLang="it-IT" sz="2600">
              <a:latin typeface="Times New Roman" panose="02020603050405020304" pitchFamily="18" charset="0"/>
            </a:endParaRPr>
          </a:p>
          <a:p>
            <a:pPr marL="346075" indent="-346075"/>
            <a:r>
              <a:rPr lang="it-IT" altLang="it-IT" sz="2600">
                <a:latin typeface="Times New Roman" panose="02020603050405020304" pitchFamily="18" charset="0"/>
              </a:rPr>
              <a:t>Per il rendimento atteso basta moltiplicare il rendimento atteso dei singoli titoli per il loro peso nel portafoglio </a:t>
            </a:r>
          </a:p>
          <a:p>
            <a:pPr marL="346075" indent="-346075"/>
            <a:endParaRPr lang="it-IT" altLang="it-IT" sz="2800" i="1">
              <a:latin typeface="Times New Roman" panose="02020603050405020304" pitchFamily="18" charset="0"/>
            </a:endParaRPr>
          </a:p>
          <a:p>
            <a:pPr marL="346075" indent="-346075"/>
            <a:r>
              <a:rPr lang="it-IT" altLang="it-IT" sz="2600">
                <a:latin typeface="Times New Roman" panose="02020603050405020304" pitchFamily="18" charset="0"/>
              </a:rPr>
              <a:t>Per il rischio calcoliamo prima la somma delle varianze e poi aggiungiamo la parte relativa alle correlazioni tra titoli ( radq(-) rappresenta la radice quadrata)</a:t>
            </a:r>
          </a:p>
        </p:txBody>
      </p:sp>
      <p:graphicFrame>
        <p:nvGraphicFramePr>
          <p:cNvPr id="92164" name="Object 4">
            <a:extLst>
              <a:ext uri="{FF2B5EF4-FFF2-40B4-BE49-F238E27FC236}">
                <a16:creationId xmlns:a16="http://schemas.microsoft.com/office/drawing/2014/main" id="{7596BAB1-4C94-E640-9558-BE06D99CE1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1219200"/>
          <a:ext cx="6583363" cy="374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 bitmap" r:id="rId2" imgW="4387850" imgH="2495550" progId="Paint.Picture">
                  <p:embed/>
                </p:oleObj>
              </mc:Choice>
              <mc:Fallback>
                <p:oleObj name="Immagine bitmap" r:id="rId2" imgW="4387850" imgH="249555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219200"/>
                        <a:ext cx="6583363" cy="3743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5" name="Oval 5">
            <a:extLst>
              <a:ext uri="{FF2B5EF4-FFF2-40B4-BE49-F238E27FC236}">
                <a16:creationId xmlns:a16="http://schemas.microsoft.com/office/drawing/2014/main" id="{47FAF7F0-CF55-A88F-84DF-A06D087D8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114800"/>
            <a:ext cx="1752600" cy="762000"/>
          </a:xfrm>
          <a:prstGeom prst="ellips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graphicFrame>
        <p:nvGraphicFramePr>
          <p:cNvPr id="92167" name="Object 7">
            <a:extLst>
              <a:ext uri="{FF2B5EF4-FFF2-40B4-BE49-F238E27FC236}">
                <a16:creationId xmlns:a16="http://schemas.microsoft.com/office/drawing/2014/main" id="{8420EA8F-F91B-EC9A-8245-CF073F114E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762000"/>
          <a:ext cx="8458200" cy="381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 bitmap" r:id="rId4" imgW="5207000" imgH="2349500" progId="Paint.Picture">
                  <p:embed/>
                </p:oleObj>
              </mc:Choice>
              <mc:Fallback>
                <p:oleObj name="Immagine bitmap" r:id="rId4" imgW="5207000" imgH="2349500" progId="Paint.Picture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762000"/>
                        <a:ext cx="8458200" cy="381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8" name="Oval 8">
            <a:extLst>
              <a:ext uri="{FF2B5EF4-FFF2-40B4-BE49-F238E27FC236}">
                <a16:creationId xmlns:a16="http://schemas.microsoft.com/office/drawing/2014/main" id="{555C5E32-59FE-14E3-20E1-AEB9013D6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886200"/>
            <a:ext cx="2590800" cy="914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Ovr>
    <a:masterClrMapping/>
  </p:clrMapOvr>
  <p:transition spd="med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4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7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92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DE428C94-1C00-66B6-0260-0825383E3D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39762"/>
          </a:xfrm>
        </p:spPr>
        <p:txBody>
          <a:bodyPr/>
          <a:lstStyle/>
          <a:p>
            <a:r>
              <a:rPr lang="it-IT" altLang="it-IT" sz="3500"/>
              <a:t>Impostare il risolutore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B7C5E68B-DA44-AE35-F0D7-FAAB5913B7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Wingdings" pitchFamily="2" charset="2"/>
              <a:buNone/>
            </a:pPr>
            <a:r>
              <a:rPr lang="it-IT" altLang="it-IT" sz="2600">
                <a:latin typeface="Times New Roman" panose="02020603050405020304" pitchFamily="18" charset="0"/>
              </a:rPr>
              <a:t>Che cosa vogliamo ottenere dal nostro foglio Excel?</a:t>
            </a:r>
          </a:p>
          <a:p>
            <a:pPr marL="571500" indent="-571500">
              <a:lnSpc>
                <a:spcPct val="90000"/>
              </a:lnSpc>
              <a:buFont typeface="Wingdings" pitchFamily="2" charset="2"/>
              <a:buNone/>
            </a:pPr>
            <a:endParaRPr lang="it-IT" altLang="it-IT" sz="2600">
              <a:latin typeface="Times New Roman" panose="02020603050405020304" pitchFamily="18" charset="0"/>
            </a:endParaRPr>
          </a:p>
          <a:p>
            <a:pPr marL="571500" indent="-571500">
              <a:lnSpc>
                <a:spcPct val="90000"/>
              </a:lnSpc>
            </a:pPr>
            <a:r>
              <a:rPr lang="it-IT" altLang="it-IT" sz="2600">
                <a:latin typeface="Times New Roman" panose="02020603050405020304" pitchFamily="18" charset="0"/>
              </a:rPr>
              <a:t>rendere il rischio il più piccolo possibile </a:t>
            </a:r>
          </a:p>
          <a:p>
            <a:pPr marL="571500" indent="-571500">
              <a:lnSpc>
                <a:spcPct val="90000"/>
              </a:lnSpc>
            </a:pPr>
            <a:r>
              <a:rPr lang="it-IT" altLang="it-IT" sz="2600">
                <a:latin typeface="Times New Roman" panose="02020603050405020304" pitchFamily="18" charset="0"/>
              </a:rPr>
              <a:t>scegliendo le percentuali investite nei singoli titoli</a:t>
            </a:r>
          </a:p>
          <a:p>
            <a:pPr marL="571500" indent="-571500">
              <a:lnSpc>
                <a:spcPct val="90000"/>
              </a:lnSpc>
            </a:pPr>
            <a:r>
              <a:rPr lang="it-IT" altLang="it-IT" sz="2600">
                <a:latin typeface="Times New Roman" panose="02020603050405020304" pitchFamily="18" charset="0"/>
              </a:rPr>
              <a:t>e rispettando alcune richieste:</a:t>
            </a:r>
          </a:p>
          <a:p>
            <a:pPr marL="839788" lvl="1" indent="-495300">
              <a:lnSpc>
                <a:spcPct val="90000"/>
              </a:lnSpc>
            </a:pPr>
            <a:r>
              <a:rPr lang="it-IT" altLang="it-IT" sz="2200">
                <a:latin typeface="Times New Roman" panose="02020603050405020304" pitchFamily="18" charset="0"/>
              </a:rPr>
              <a:t>le percentuali investite debbono essere positive</a:t>
            </a:r>
          </a:p>
          <a:p>
            <a:pPr marL="839788" lvl="1" indent="-495300">
              <a:lnSpc>
                <a:spcPct val="90000"/>
              </a:lnSpc>
            </a:pPr>
            <a:r>
              <a:rPr lang="it-IT" altLang="it-IT" sz="2200">
                <a:latin typeface="Times New Roman" panose="02020603050405020304" pitchFamily="18" charset="0"/>
              </a:rPr>
              <a:t>la somma delle percentali deve essere 100%</a:t>
            </a:r>
          </a:p>
          <a:p>
            <a:pPr marL="839788" lvl="1" indent="-495300">
              <a:lnSpc>
                <a:spcPct val="90000"/>
              </a:lnSpc>
            </a:pPr>
            <a:r>
              <a:rPr lang="it-IT" altLang="it-IT" sz="2200">
                <a:latin typeface="Times New Roman" panose="02020603050405020304" pitchFamily="18" charset="0"/>
              </a:rPr>
              <a:t>il rendimento atteso deve essere quello richiesto dal cliente</a:t>
            </a:r>
          </a:p>
          <a:p>
            <a:pPr marL="839788" lvl="1" indent="-495300">
              <a:lnSpc>
                <a:spcPct val="90000"/>
              </a:lnSpc>
            </a:pPr>
            <a:endParaRPr lang="it-IT" altLang="it-IT" sz="2200">
              <a:latin typeface="Times New Roman" panose="02020603050405020304" pitchFamily="18" charset="0"/>
            </a:endParaRPr>
          </a:p>
          <a:p>
            <a:pPr marL="571500" indent="-571500">
              <a:lnSpc>
                <a:spcPct val="90000"/>
              </a:lnSpc>
              <a:buFont typeface="Wingdings" pitchFamily="2" charset="2"/>
              <a:buNone/>
            </a:pPr>
            <a:r>
              <a:rPr lang="it-IT" altLang="it-IT" sz="2600">
                <a:latin typeface="Times New Roman" panose="02020603050405020304" pitchFamily="18" charset="0"/>
              </a:rPr>
              <a:t>Carichiamo il Risolutore e impostiamo queste richieste</a:t>
            </a:r>
          </a:p>
          <a:p>
            <a:pPr marL="571500" indent="-571500">
              <a:lnSpc>
                <a:spcPct val="90000"/>
              </a:lnSpc>
            </a:pPr>
            <a:endParaRPr lang="it-IT" altLang="it-IT" sz="2600">
              <a:latin typeface="Times New Roman" panose="02020603050405020304" pitchFamily="18" charset="0"/>
            </a:endParaRPr>
          </a:p>
        </p:txBody>
      </p:sp>
      <p:graphicFrame>
        <p:nvGraphicFramePr>
          <p:cNvPr id="94217" name="Object 9">
            <a:extLst>
              <a:ext uri="{FF2B5EF4-FFF2-40B4-BE49-F238E27FC236}">
                <a16:creationId xmlns:a16="http://schemas.microsoft.com/office/drawing/2014/main" id="{7DA44BA0-3588-2C91-FC3B-DD81991CF1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685800"/>
          <a:ext cx="5910263" cy="594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 bitmap" r:id="rId2" imgW="3390900" imgH="3409950" progId="Paint.Picture">
                  <p:embed/>
                </p:oleObj>
              </mc:Choice>
              <mc:Fallback>
                <p:oleObj name="Immagine bitmap" r:id="rId2" imgW="3390900" imgH="3409950" progId="Paint.Picture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685800"/>
                        <a:ext cx="5910263" cy="594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8" name="Line 10">
            <a:extLst>
              <a:ext uri="{FF2B5EF4-FFF2-40B4-BE49-F238E27FC236}">
                <a16:creationId xmlns:a16="http://schemas.microsoft.com/office/drawing/2014/main" id="{A283073D-7650-ED19-593F-4CD3B16068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3429000"/>
            <a:ext cx="167640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4219" name="Oval 11">
            <a:extLst>
              <a:ext uri="{FF2B5EF4-FFF2-40B4-BE49-F238E27FC236}">
                <a16:creationId xmlns:a16="http://schemas.microsoft.com/office/drawing/2014/main" id="{20295C59-5CAF-4BC9-E28C-7D6D511EA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191000"/>
            <a:ext cx="609600" cy="381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94220" name="Oval 12">
            <a:extLst>
              <a:ext uri="{FF2B5EF4-FFF2-40B4-BE49-F238E27FC236}">
                <a16:creationId xmlns:a16="http://schemas.microsoft.com/office/drawing/2014/main" id="{9933DE9C-63EA-5522-1AFE-47EBA81D0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752600"/>
            <a:ext cx="1752600" cy="1295400"/>
          </a:xfrm>
          <a:prstGeom prst="ellips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94221" name="Line 13">
            <a:extLst>
              <a:ext uri="{FF2B5EF4-FFF2-40B4-BE49-F238E27FC236}">
                <a16:creationId xmlns:a16="http://schemas.microsoft.com/office/drawing/2014/main" id="{26107DF2-3E9C-118F-24B5-712C879553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3048000"/>
            <a:ext cx="0" cy="16764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 spd="med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94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94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9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94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94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94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196A9679-901A-C2B7-FE57-9300DDA513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39762"/>
          </a:xfrm>
        </p:spPr>
        <p:txBody>
          <a:bodyPr/>
          <a:lstStyle/>
          <a:p>
            <a:r>
              <a:rPr lang="it-IT" altLang="it-IT" sz="3500"/>
              <a:t>Vincoli</a:t>
            </a:r>
          </a:p>
        </p:txBody>
      </p:sp>
      <p:graphicFrame>
        <p:nvGraphicFramePr>
          <p:cNvPr id="95237" name="Object 5">
            <a:extLst>
              <a:ext uri="{FF2B5EF4-FFF2-40B4-BE49-F238E27FC236}">
                <a16:creationId xmlns:a16="http://schemas.microsoft.com/office/drawing/2014/main" id="{08AE7010-C386-B410-B125-7C44A9F940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381000"/>
          <a:ext cx="5343525" cy="601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 bitmap" r:id="rId2" imgW="3562350" imgH="4006850" progId="Paint.Picture">
                  <p:embed/>
                </p:oleObj>
              </mc:Choice>
              <mc:Fallback>
                <p:oleObj name="Immagine bitmap" r:id="rId2" imgW="3562350" imgH="4006850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81000"/>
                        <a:ext cx="5343525" cy="601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8" name="Oval 6">
            <a:extLst>
              <a:ext uri="{FF2B5EF4-FFF2-40B4-BE49-F238E27FC236}">
                <a16:creationId xmlns:a16="http://schemas.microsoft.com/office/drawing/2014/main" id="{636A9633-BABF-6629-5418-35C33A1AF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5181600"/>
            <a:ext cx="838200" cy="457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graphicFrame>
        <p:nvGraphicFramePr>
          <p:cNvPr id="95239" name="Object 7">
            <a:extLst>
              <a:ext uri="{FF2B5EF4-FFF2-40B4-BE49-F238E27FC236}">
                <a16:creationId xmlns:a16="http://schemas.microsoft.com/office/drawing/2014/main" id="{7D122DF8-2A52-835B-8F93-96EAE5F316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2209800"/>
          <a:ext cx="3562350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 bitmap" r:id="rId4" imgW="2374900" imgH="781050" progId="Paint.Picture">
                  <p:embed/>
                </p:oleObj>
              </mc:Choice>
              <mc:Fallback>
                <p:oleObj name="Immagine bitmap" r:id="rId4" imgW="2374900" imgH="781050" progId="Paint.Picture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209800"/>
                        <a:ext cx="3562350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0" name="Object 8">
            <a:extLst>
              <a:ext uri="{FF2B5EF4-FFF2-40B4-BE49-F238E27FC236}">
                <a16:creationId xmlns:a16="http://schemas.microsoft.com/office/drawing/2014/main" id="{50BA4849-107C-7107-8EE3-2F1915D98D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914400"/>
          <a:ext cx="3562350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 bitmap" r:id="rId6" imgW="2374900" imgH="774700" progId="Paint.Picture">
                  <p:embed/>
                </p:oleObj>
              </mc:Choice>
              <mc:Fallback>
                <p:oleObj name="Immagine bitmap" r:id="rId6" imgW="2374900" imgH="774700" progId="Paint.Picture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914400"/>
                        <a:ext cx="3562350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41" name="Line 9">
            <a:extLst>
              <a:ext uri="{FF2B5EF4-FFF2-40B4-BE49-F238E27FC236}">
                <a16:creationId xmlns:a16="http://schemas.microsoft.com/office/drawing/2014/main" id="{A8115A58-1677-4AE5-0EAE-B11450C8E9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2400" y="1600200"/>
            <a:ext cx="1447800" cy="16002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5242" name="Line 10">
            <a:extLst>
              <a:ext uri="{FF2B5EF4-FFF2-40B4-BE49-F238E27FC236}">
                <a16:creationId xmlns:a16="http://schemas.microsoft.com/office/drawing/2014/main" id="{49845507-321B-56E7-89D6-0AEB8B9395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400" y="2895600"/>
            <a:ext cx="1143000" cy="762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graphicFrame>
        <p:nvGraphicFramePr>
          <p:cNvPr id="95243" name="Object 11">
            <a:extLst>
              <a:ext uri="{FF2B5EF4-FFF2-40B4-BE49-F238E27FC236}">
                <a16:creationId xmlns:a16="http://schemas.microsoft.com/office/drawing/2014/main" id="{D681A165-FB9F-2DA1-9C98-52E4D174EA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3962400"/>
          <a:ext cx="4343400" cy="240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 bitmap" r:id="rId8" imgW="2895600" imgH="1600200" progId="Paint.Picture">
                  <p:embed/>
                </p:oleObj>
              </mc:Choice>
              <mc:Fallback>
                <p:oleObj name="Immagine bitmap" r:id="rId8" imgW="2895600" imgH="1600200" progId="Paint.Picture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962400"/>
                        <a:ext cx="4343400" cy="240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44" name="Oval 12">
            <a:extLst>
              <a:ext uri="{FF2B5EF4-FFF2-40B4-BE49-F238E27FC236}">
                <a16:creationId xmlns:a16="http://schemas.microsoft.com/office/drawing/2014/main" id="{F166E6F9-E26C-5E60-068C-377CAB30D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5029200"/>
            <a:ext cx="1219200" cy="838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95245" name="Oval 13">
            <a:extLst>
              <a:ext uri="{FF2B5EF4-FFF2-40B4-BE49-F238E27FC236}">
                <a16:creationId xmlns:a16="http://schemas.microsoft.com/office/drawing/2014/main" id="{4A67F185-3AD9-0EA2-7416-2143AAFAC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953000"/>
            <a:ext cx="1143000" cy="533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graphicFrame>
        <p:nvGraphicFramePr>
          <p:cNvPr id="95248" name="Object 16">
            <a:extLst>
              <a:ext uri="{FF2B5EF4-FFF2-40B4-BE49-F238E27FC236}">
                <a16:creationId xmlns:a16="http://schemas.microsoft.com/office/drawing/2014/main" id="{A186F6F5-D6B1-7D9E-23BC-8358A5F134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609600"/>
          <a:ext cx="3533775" cy="275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 bitmap" r:id="rId10" imgW="2355850" imgH="1835150" progId="Paint.Picture">
                  <p:embed/>
                </p:oleObj>
              </mc:Choice>
              <mc:Fallback>
                <p:oleObj name="Immagine bitmap" r:id="rId10" imgW="2355850" imgH="1835150" progId="Paint.Picture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609600"/>
                        <a:ext cx="3533775" cy="275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49" name="Oval 17">
            <a:extLst>
              <a:ext uri="{FF2B5EF4-FFF2-40B4-BE49-F238E27FC236}">
                <a16:creationId xmlns:a16="http://schemas.microsoft.com/office/drawing/2014/main" id="{406F6737-EDBA-7C27-40D4-B95DF24D7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438400"/>
            <a:ext cx="1828800" cy="3048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Ovr>
    <a:masterClrMapping/>
  </p:clrMapOvr>
  <p:transition spd="med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95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95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95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95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95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0" dur="500"/>
                                        <p:tgtEl>
                                          <p:spTgt spid="95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95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8" dur="500"/>
                                        <p:tgtEl>
                                          <p:spTgt spid="95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95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95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264" name="Object 8">
            <a:extLst>
              <a:ext uri="{FF2B5EF4-FFF2-40B4-BE49-F238E27FC236}">
                <a16:creationId xmlns:a16="http://schemas.microsoft.com/office/drawing/2014/main" id="{8557E71B-33F0-1B7E-F7D3-680AC2D53F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762000"/>
          <a:ext cx="6564313" cy="534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 bitmap" r:id="rId2" imgW="4375150" imgH="3562350" progId="Paint.Picture">
                  <p:embed/>
                </p:oleObj>
              </mc:Choice>
              <mc:Fallback>
                <p:oleObj name="Immagine bitmap" r:id="rId2" imgW="4375150" imgH="3562350" progId="Paint.Picture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762000"/>
                        <a:ext cx="6564313" cy="534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58" name="Rectangle 2">
            <a:extLst>
              <a:ext uri="{FF2B5EF4-FFF2-40B4-BE49-F238E27FC236}">
                <a16:creationId xmlns:a16="http://schemas.microsoft.com/office/drawing/2014/main" id="{431966EB-1907-CB0E-E7B7-811C96ABA3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39762"/>
          </a:xfrm>
        </p:spPr>
        <p:txBody>
          <a:bodyPr/>
          <a:lstStyle/>
          <a:p>
            <a:r>
              <a:rPr lang="it-IT" altLang="it-IT" sz="3500"/>
              <a:t>Soluzione</a:t>
            </a:r>
          </a:p>
        </p:txBody>
      </p:sp>
      <p:sp>
        <p:nvSpPr>
          <p:cNvPr id="96262" name="Line 6">
            <a:extLst>
              <a:ext uri="{FF2B5EF4-FFF2-40B4-BE49-F238E27FC236}">
                <a16:creationId xmlns:a16="http://schemas.microsoft.com/office/drawing/2014/main" id="{CEF4BFCF-4C3D-3BF9-3D0C-C28079341A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62200" y="3200400"/>
            <a:ext cx="2743200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6263" name="Text Box 7">
            <a:extLst>
              <a:ext uri="{FF2B5EF4-FFF2-40B4-BE49-F238E27FC236}">
                <a16:creationId xmlns:a16="http://schemas.microsoft.com/office/drawing/2014/main" id="{A05B3640-D10F-1BDD-D7FC-58E47B3C2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743200"/>
            <a:ext cx="2590800" cy="119062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>
                <a:latin typeface="Times New Roman" panose="02020603050405020304" pitchFamily="18" charset="0"/>
              </a:rPr>
              <a:t>Portafoglio che minimizza il rischio soggetto al vincolo di rendimento del 12%</a:t>
            </a:r>
          </a:p>
        </p:txBody>
      </p:sp>
      <p:sp>
        <p:nvSpPr>
          <p:cNvPr id="96265" name="Text Box 9">
            <a:extLst>
              <a:ext uri="{FF2B5EF4-FFF2-40B4-BE49-F238E27FC236}">
                <a16:creationId xmlns:a16="http://schemas.microsoft.com/office/drawing/2014/main" id="{C5CDD9C2-BA71-8247-64E0-81CC50FE18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038600"/>
            <a:ext cx="2438400" cy="132873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>
                <a:latin typeface="Times New Roman" panose="02020603050405020304" pitchFamily="18" charset="0"/>
              </a:rPr>
              <a:t>Il rischio del portafoglio ottenuto è minore del rischio dei singoli titoli</a:t>
            </a:r>
          </a:p>
          <a:p>
            <a:pPr>
              <a:spcBef>
                <a:spcPct val="50000"/>
              </a:spcBef>
            </a:pPr>
            <a:r>
              <a:rPr lang="it-IT" altLang="it-IT">
                <a:latin typeface="Times New Roman" panose="02020603050405020304" pitchFamily="18" charset="0"/>
              </a:rPr>
              <a:t>DIVERSIFICAZIONE!</a:t>
            </a:r>
          </a:p>
        </p:txBody>
      </p:sp>
      <p:sp>
        <p:nvSpPr>
          <p:cNvPr id="96266" name="Line 10">
            <a:extLst>
              <a:ext uri="{FF2B5EF4-FFF2-40B4-BE49-F238E27FC236}">
                <a16:creationId xmlns:a16="http://schemas.microsoft.com/office/drawing/2014/main" id="{A3641ABB-DD3C-D859-DC54-7D0C5927BB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53000" y="4114800"/>
            <a:ext cx="1371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6267" name="Text Box 11">
            <a:extLst>
              <a:ext uri="{FF2B5EF4-FFF2-40B4-BE49-F238E27FC236}">
                <a16:creationId xmlns:a16="http://schemas.microsoft.com/office/drawing/2014/main" id="{21452B88-B2E5-9395-897C-CB02A7C2E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5599113"/>
            <a:ext cx="2590800" cy="954087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>
                <a:latin typeface="Times New Roman" panose="02020603050405020304" pitchFamily="18" charset="0"/>
              </a:rPr>
              <a:t>E’ possibile sviluppare un’analisi di sensitività sui dati del modello</a:t>
            </a:r>
          </a:p>
        </p:txBody>
      </p:sp>
      <p:sp>
        <p:nvSpPr>
          <p:cNvPr id="96269" name="Line 13">
            <a:extLst>
              <a:ext uri="{FF2B5EF4-FFF2-40B4-BE49-F238E27FC236}">
                <a16:creationId xmlns:a16="http://schemas.microsoft.com/office/drawing/2014/main" id="{360D58D3-ACA6-4BEE-FB71-49C076D3C7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81600" y="5638800"/>
            <a:ext cx="7620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 spd="med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6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96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96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96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96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9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3" grpId="0" animBg="1"/>
      <p:bldP spid="96265" grpId="0" animBg="1"/>
      <p:bldP spid="9626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BDC3CDD5-C538-DA0F-0ABB-87AABE8BF5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15962"/>
          </a:xfrm>
        </p:spPr>
        <p:txBody>
          <a:bodyPr/>
          <a:lstStyle/>
          <a:p>
            <a:r>
              <a:rPr lang="it-IT" altLang="it-IT"/>
              <a:t>Frontiera efficiente</a:t>
            </a:r>
          </a:p>
        </p:txBody>
      </p:sp>
      <p:graphicFrame>
        <p:nvGraphicFramePr>
          <p:cNvPr id="98308" name="Object 4">
            <a:extLst>
              <a:ext uri="{FF2B5EF4-FFF2-40B4-BE49-F238E27FC236}">
                <a16:creationId xmlns:a16="http://schemas.microsoft.com/office/drawing/2014/main" id="{7EEFEF59-32B5-F147-2B01-48C9D6EE27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838200"/>
          <a:ext cx="7048500" cy="541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fico" r:id="rId2" imgW="5918200" imgH="4546600" progId="Excel.Chart.8">
                  <p:embed/>
                </p:oleObj>
              </mc:Choice>
              <mc:Fallback>
                <p:oleObj name="Grafico" r:id="rId2" imgW="5918200" imgH="4546600" progId="Excel.Char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838200"/>
                        <a:ext cx="7048500" cy="541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09" name="Text Box 5">
            <a:extLst>
              <a:ext uri="{FF2B5EF4-FFF2-40B4-BE49-F238E27FC236}">
                <a16:creationId xmlns:a16="http://schemas.microsoft.com/office/drawing/2014/main" id="{7C8694D4-0872-CF37-A467-E0364F692D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038600"/>
            <a:ext cx="2133600" cy="7112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000">
                <a:latin typeface="Times New Roman" panose="02020603050405020304" pitchFamily="18" charset="0"/>
              </a:rPr>
              <a:t>Portafoglio con rischio minimo  </a:t>
            </a:r>
            <a:r>
              <a:rPr lang="it-IT" altLang="it-IT" sz="200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98310" name="Text Box 6">
            <a:extLst>
              <a:ext uri="{FF2B5EF4-FFF2-40B4-BE49-F238E27FC236}">
                <a16:creationId xmlns:a16="http://schemas.microsoft.com/office/drawing/2014/main" id="{3FD5344D-027F-E58B-8CE7-1344642CD7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4495800"/>
            <a:ext cx="4038600" cy="10160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it-IT" altLang="it-IT" sz="2000">
                <a:latin typeface="Times New Roman" panose="02020603050405020304" pitchFamily="18" charset="0"/>
                <a:cs typeface="Times New Roman" panose="02020603050405020304" pitchFamily="18" charset="0"/>
              </a:rPr>
              <a:t>←      </a:t>
            </a:r>
            <a:r>
              <a:rPr lang="it-IT" altLang="it-IT" sz="2000">
                <a:latin typeface="Times New Roman" panose="02020603050405020304" pitchFamily="18" charset="0"/>
              </a:rPr>
              <a:t>Portafogli non efficienti: con lo stesso rischio si può ottenere un rendimento maggiore!</a:t>
            </a:r>
            <a:endParaRPr lang="it-IT" altLang="it-IT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311" name="Text Box 7">
            <a:extLst>
              <a:ext uri="{FF2B5EF4-FFF2-40B4-BE49-F238E27FC236}">
                <a16:creationId xmlns:a16="http://schemas.microsoft.com/office/drawing/2014/main" id="{F00B1092-781E-EAC5-BC7F-4E739C7E7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3200400"/>
            <a:ext cx="1676400" cy="711200"/>
          </a:xfrm>
          <a:prstGeom prst="rect">
            <a:avLst/>
          </a:prstGeom>
          <a:noFill/>
          <a:ln w="9525">
            <a:solidFill>
              <a:srgbClr val="CC00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000">
                <a:latin typeface="Times New Roman" panose="02020603050405020304" pitchFamily="18" charset="0"/>
              </a:rPr>
              <a:t>Titoli presenti nel mercato</a:t>
            </a:r>
          </a:p>
        </p:txBody>
      </p:sp>
      <p:sp>
        <p:nvSpPr>
          <p:cNvPr id="98312" name="Line 8">
            <a:extLst>
              <a:ext uri="{FF2B5EF4-FFF2-40B4-BE49-F238E27FC236}">
                <a16:creationId xmlns:a16="http://schemas.microsoft.com/office/drawing/2014/main" id="{F7EB7BC6-F252-B2C0-5A2F-1EB926B1E21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58000" y="2057400"/>
            <a:ext cx="381000" cy="1524000"/>
          </a:xfrm>
          <a:prstGeom prst="line">
            <a:avLst/>
          </a:prstGeom>
          <a:noFill/>
          <a:ln w="38100">
            <a:solidFill>
              <a:srgbClr val="CC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8313" name="Line 9">
            <a:extLst>
              <a:ext uri="{FF2B5EF4-FFF2-40B4-BE49-F238E27FC236}">
                <a16:creationId xmlns:a16="http://schemas.microsoft.com/office/drawing/2014/main" id="{7570AC0D-5BEB-F333-F9D2-9168194EC7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3581400"/>
            <a:ext cx="2362200" cy="0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8314" name="Line 10">
            <a:extLst>
              <a:ext uri="{FF2B5EF4-FFF2-40B4-BE49-F238E27FC236}">
                <a16:creationId xmlns:a16="http://schemas.microsoft.com/office/drawing/2014/main" id="{F651D02F-8668-5AA0-5A5C-9B2A5D5242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3581400"/>
            <a:ext cx="4495800" cy="1524000"/>
          </a:xfrm>
          <a:prstGeom prst="line">
            <a:avLst/>
          </a:prstGeom>
          <a:noFill/>
          <a:ln w="38100">
            <a:solidFill>
              <a:srgbClr val="CC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8316" name="Line 12">
            <a:extLst>
              <a:ext uri="{FF2B5EF4-FFF2-40B4-BE49-F238E27FC236}">
                <a16:creationId xmlns:a16="http://schemas.microsoft.com/office/drawing/2014/main" id="{048659D3-6147-6AB6-E7A1-DF00D5F0D9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743200"/>
            <a:ext cx="609600" cy="7620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8317" name="Text Box 13">
            <a:extLst>
              <a:ext uri="{FF2B5EF4-FFF2-40B4-BE49-F238E27FC236}">
                <a16:creationId xmlns:a16="http://schemas.microsoft.com/office/drawing/2014/main" id="{538B6968-0D75-FDBC-C3F0-1B9F76AD4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048000"/>
            <a:ext cx="2057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it-IT" altLang="it-IT"/>
          </a:p>
        </p:txBody>
      </p:sp>
      <p:sp>
        <p:nvSpPr>
          <p:cNvPr id="98318" name="Text Box 14">
            <a:extLst>
              <a:ext uri="{FF2B5EF4-FFF2-40B4-BE49-F238E27FC236}">
                <a16:creationId xmlns:a16="http://schemas.microsoft.com/office/drawing/2014/main" id="{1007CFD7-D281-58A2-1896-7DD076DB0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86000"/>
            <a:ext cx="2057400" cy="10160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000">
                <a:latin typeface="Times New Roman" panose="02020603050405020304" pitchFamily="18" charset="0"/>
              </a:rPr>
              <a:t>Portafoglio ottimo con rendimento fissato al 15%</a:t>
            </a:r>
          </a:p>
        </p:txBody>
      </p:sp>
      <p:sp>
        <p:nvSpPr>
          <p:cNvPr id="98319" name="Text Box 15">
            <a:extLst>
              <a:ext uri="{FF2B5EF4-FFF2-40B4-BE49-F238E27FC236}">
                <a16:creationId xmlns:a16="http://schemas.microsoft.com/office/drawing/2014/main" id="{6495A956-DA2A-23E7-7309-05BBEAB86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66800"/>
            <a:ext cx="2057400" cy="10160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000">
                <a:latin typeface="Times New Roman" panose="02020603050405020304" pitchFamily="18" charset="0"/>
              </a:rPr>
              <a:t>Portafoglio ottimo con rendimento fissato al 17%</a:t>
            </a:r>
          </a:p>
        </p:txBody>
      </p:sp>
      <p:sp>
        <p:nvSpPr>
          <p:cNvPr id="98320" name="Line 16">
            <a:extLst>
              <a:ext uri="{FF2B5EF4-FFF2-40B4-BE49-F238E27FC236}">
                <a16:creationId xmlns:a16="http://schemas.microsoft.com/office/drawing/2014/main" id="{8C3C052E-A6C1-F684-20B1-175D4E25A44C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1676400"/>
            <a:ext cx="1447800" cy="12192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8321" name="Oval 17">
            <a:extLst>
              <a:ext uri="{FF2B5EF4-FFF2-40B4-BE49-F238E27FC236}">
                <a16:creationId xmlns:a16="http://schemas.microsoft.com/office/drawing/2014/main" id="{E4D022A4-0AC7-41F6-C970-B31E745FF335}"/>
              </a:ext>
            </a:extLst>
          </p:cNvPr>
          <p:cNvSpPr>
            <a:spLocks noChangeArrowheads="1"/>
          </p:cNvSpPr>
          <p:nvPr/>
        </p:nvSpPr>
        <p:spPr bwMode="auto">
          <a:xfrm rot="-2333806">
            <a:off x="1704975" y="2354263"/>
            <a:ext cx="4924425" cy="143192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98322" name="Text Box 18">
            <a:extLst>
              <a:ext uri="{FF2B5EF4-FFF2-40B4-BE49-F238E27FC236}">
                <a16:creationId xmlns:a16="http://schemas.microsoft.com/office/drawing/2014/main" id="{118DEBE9-573B-5DCD-5EA2-40A4AB176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990600"/>
            <a:ext cx="3352800" cy="7112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000">
                <a:latin typeface="Times New Roman" panose="02020603050405020304" pitchFamily="18" charset="0"/>
              </a:rPr>
              <a:t>Frontiera efficiente in un mercato composto da tre titoli </a:t>
            </a:r>
          </a:p>
        </p:txBody>
      </p:sp>
    </p:spTree>
  </p:cSld>
  <p:clrMapOvr>
    <a:masterClrMapping/>
  </p:clrMapOvr>
  <p:transition spd="med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8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98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98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98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0" dur="500"/>
                                        <p:tgtEl>
                                          <p:spTgt spid="98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3" dur="500"/>
                                        <p:tgtEl>
                                          <p:spTgt spid="98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6" dur="500"/>
                                        <p:tgtEl>
                                          <p:spTgt spid="983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9" dur="500"/>
                                        <p:tgtEl>
                                          <p:spTgt spid="983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98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98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98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98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9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9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98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98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9" grpId="0" animBg="1"/>
      <p:bldP spid="98310" grpId="0" animBg="1"/>
      <p:bldP spid="98311" grpId="0" animBg="1"/>
      <p:bldP spid="98311" grpId="1" animBg="1"/>
      <p:bldP spid="98318" grpId="0" animBg="1"/>
      <p:bldP spid="98319" grpId="0" animBg="1"/>
      <p:bldP spid="9832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6E8248BC-58E1-12F3-5E3A-E928B854A4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15962"/>
          </a:xfrm>
        </p:spPr>
        <p:txBody>
          <a:bodyPr/>
          <a:lstStyle/>
          <a:p>
            <a:r>
              <a:rPr lang="it-IT" altLang="it-IT"/>
              <a:t>Titolo non rischioso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CBD44E65-4847-D250-41F1-9209791D81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it-IT" altLang="it-IT" sz="2600">
                <a:latin typeface="Times New Roman" panose="02020603050405020304" pitchFamily="18" charset="0"/>
              </a:rPr>
              <a:t>Come cambia la frontiera efficiente se introduciamo un titolo non rischioso?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it-IT" altLang="it-IT" sz="100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it-IT" altLang="it-IT" sz="2600">
                <a:latin typeface="Times New Roman" panose="02020603050405020304" pitchFamily="18" charset="0"/>
              </a:rPr>
              <a:t>Il rendimento del titolo non rischioso è noto all’istante dell’investimento</a:t>
            </a:r>
            <a:endParaRPr lang="it-IT" altLang="it-IT" sz="120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it-IT" altLang="it-IT" sz="2600">
                <a:latin typeface="Times New Roman" panose="02020603050405020304" pitchFamily="18" charset="0"/>
              </a:rPr>
              <a:t>Non è una quantità aleatoria, quindi il suo rischio è nullo ed è nulla la correlazione con i titoli presenti nel mercato</a:t>
            </a:r>
            <a:endParaRPr lang="it-IT" altLang="it-IT" sz="120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it-IT" altLang="it-IT" sz="2600">
                <a:latin typeface="Times New Roman" panose="02020603050405020304" pitchFamily="18" charset="0"/>
              </a:rPr>
              <a:t>La frontiera efficiente diventa una retta</a:t>
            </a:r>
            <a:endParaRPr lang="it-IT" altLang="it-IT" sz="120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it-IT" altLang="it-IT" sz="2600">
                <a:latin typeface="Times New Roman" panose="02020603050405020304" pitchFamily="18" charset="0"/>
              </a:rPr>
              <a:t>La pendenza di questa retta è detta indice di Sharpe ed è caratterizzata dal rendimento atteso e dalla deviazione standard del portafoglio di mercato</a:t>
            </a:r>
          </a:p>
          <a:p>
            <a:pPr>
              <a:lnSpc>
                <a:spcPct val="90000"/>
              </a:lnSpc>
            </a:pPr>
            <a:endParaRPr lang="it-IT" altLang="it-IT" sz="2600">
              <a:latin typeface="Times New Roman" panose="02020603050405020304" pitchFamily="18" charset="0"/>
            </a:endParaRPr>
          </a:p>
        </p:txBody>
      </p:sp>
      <p:graphicFrame>
        <p:nvGraphicFramePr>
          <p:cNvPr id="99334" name="Object 6">
            <a:extLst>
              <a:ext uri="{FF2B5EF4-FFF2-40B4-BE49-F238E27FC236}">
                <a16:creationId xmlns:a16="http://schemas.microsoft.com/office/drawing/2014/main" id="{AA751CD1-AA8C-FD42-9BD0-A96FE6659D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627063"/>
          <a:ext cx="7620000" cy="584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fico" r:id="rId2" imgW="5918200" imgH="4546600" progId="Excel.Chart.8">
                  <p:embed/>
                </p:oleObj>
              </mc:Choice>
              <mc:Fallback>
                <p:oleObj name="Grafico" r:id="rId2" imgW="5918200" imgH="4546600" progId="Excel.Char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627063"/>
                        <a:ext cx="7620000" cy="584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6" name="Line 8">
            <a:extLst>
              <a:ext uri="{FF2B5EF4-FFF2-40B4-BE49-F238E27FC236}">
                <a16:creationId xmlns:a16="http://schemas.microsoft.com/office/drawing/2014/main" id="{9181FAE5-80DD-7017-4CEF-49FADCFD7B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1676400"/>
            <a:ext cx="5867400" cy="37338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9337" name="Oval 9">
            <a:extLst>
              <a:ext uri="{FF2B5EF4-FFF2-40B4-BE49-F238E27FC236}">
                <a16:creationId xmlns:a16="http://schemas.microsoft.com/office/drawing/2014/main" id="{8807FCF0-24FE-387B-997D-DEC161B67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819400"/>
            <a:ext cx="152400" cy="1524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99333" name="Oval 5">
            <a:extLst>
              <a:ext uri="{FF2B5EF4-FFF2-40B4-BE49-F238E27FC236}">
                <a16:creationId xmlns:a16="http://schemas.microsoft.com/office/drawing/2014/main" id="{C72D031A-3DF6-58D4-572E-4C48BA1DE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334000"/>
            <a:ext cx="152400" cy="152400"/>
          </a:xfrm>
          <a:prstGeom prst="ellipse">
            <a:avLst/>
          </a:prstGeom>
          <a:solidFill>
            <a:srgbClr val="CC00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99338" name="Line 10">
            <a:extLst>
              <a:ext uri="{FF2B5EF4-FFF2-40B4-BE49-F238E27FC236}">
                <a16:creationId xmlns:a16="http://schemas.microsoft.com/office/drawing/2014/main" id="{512F1E4E-1BB9-40D7-22D8-DC40523C9E4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5410200"/>
            <a:ext cx="601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9342" name="Line 14">
            <a:extLst>
              <a:ext uri="{FF2B5EF4-FFF2-40B4-BE49-F238E27FC236}">
                <a16:creationId xmlns:a16="http://schemas.microsoft.com/office/drawing/2014/main" id="{BE2467E4-E598-25AF-0C33-086EABDA7715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495800"/>
            <a:ext cx="304800" cy="762000"/>
          </a:xfrm>
          <a:prstGeom prst="line">
            <a:avLst/>
          </a:prstGeom>
          <a:noFill/>
          <a:ln w="38100">
            <a:solidFill>
              <a:srgbClr val="CC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9347" name="Line 19">
            <a:extLst>
              <a:ext uri="{FF2B5EF4-FFF2-40B4-BE49-F238E27FC236}">
                <a16:creationId xmlns:a16="http://schemas.microsoft.com/office/drawing/2014/main" id="{6E8E7206-3B62-1A96-3188-55B34264A7E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3505200"/>
            <a:ext cx="381000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9345" name="Text Box 17">
            <a:extLst>
              <a:ext uri="{FF2B5EF4-FFF2-40B4-BE49-F238E27FC236}">
                <a16:creationId xmlns:a16="http://schemas.microsoft.com/office/drawing/2014/main" id="{BEA83238-67ED-B18E-34CB-7D01AC722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819400"/>
            <a:ext cx="1905000" cy="7112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000">
                <a:latin typeface="Times New Roman" panose="02020603050405020304" pitchFamily="18" charset="0"/>
              </a:rPr>
              <a:t>Nuova frontiera efficiente</a:t>
            </a:r>
          </a:p>
        </p:txBody>
      </p:sp>
      <p:sp>
        <p:nvSpPr>
          <p:cNvPr id="99341" name="Text Box 13">
            <a:extLst>
              <a:ext uri="{FF2B5EF4-FFF2-40B4-BE49-F238E27FC236}">
                <a16:creationId xmlns:a16="http://schemas.microsoft.com/office/drawing/2014/main" id="{BD8D6D31-723E-FCD5-DA76-361A5A4D4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810000"/>
            <a:ext cx="1905000" cy="711200"/>
          </a:xfrm>
          <a:prstGeom prst="rect">
            <a:avLst/>
          </a:prstGeom>
          <a:solidFill>
            <a:schemeClr val="bg1"/>
          </a:solidFill>
          <a:ln w="9525">
            <a:solidFill>
              <a:srgbClr val="CC00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000">
                <a:latin typeface="Times New Roman" panose="02020603050405020304" pitchFamily="18" charset="0"/>
              </a:rPr>
              <a:t>Titolo privo di rischio </a:t>
            </a:r>
            <a:r>
              <a:rPr lang="it-IT" altLang="it-IT" sz="2000" i="1">
                <a:latin typeface="Times New Roman" panose="02020603050405020304" pitchFamily="18" charset="0"/>
              </a:rPr>
              <a:t>r</a:t>
            </a:r>
            <a:r>
              <a:rPr lang="it-IT" altLang="it-IT" sz="2000" i="1" baseline="-250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99350" name="Line 22">
            <a:extLst>
              <a:ext uri="{FF2B5EF4-FFF2-40B4-BE49-F238E27FC236}">
                <a16:creationId xmlns:a16="http://schemas.microsoft.com/office/drawing/2014/main" id="{FE9E2B13-8C34-1A80-2B4A-31D62102A4A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133600"/>
            <a:ext cx="609600" cy="6096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9348" name="Text Box 20">
            <a:extLst>
              <a:ext uri="{FF2B5EF4-FFF2-40B4-BE49-F238E27FC236}">
                <a16:creationId xmlns:a16="http://schemas.microsoft.com/office/drawing/2014/main" id="{5855E664-406B-294C-FCFB-6B46EA7F4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447800"/>
            <a:ext cx="2438400" cy="7112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000">
                <a:latin typeface="Times New Roman" panose="02020603050405020304" pitchFamily="18" charset="0"/>
              </a:rPr>
              <a:t>Portafoglio di Mercato (tangente)</a:t>
            </a:r>
          </a:p>
        </p:txBody>
      </p:sp>
      <p:sp>
        <p:nvSpPr>
          <p:cNvPr id="99352" name="Line 24">
            <a:extLst>
              <a:ext uri="{FF2B5EF4-FFF2-40B4-BE49-F238E27FC236}">
                <a16:creationId xmlns:a16="http://schemas.microsoft.com/office/drawing/2014/main" id="{FCA10852-CA22-3B9F-A54D-5A77F3BCDC3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2895600"/>
            <a:ext cx="0" cy="27432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9353" name="Line 25">
            <a:extLst>
              <a:ext uri="{FF2B5EF4-FFF2-40B4-BE49-F238E27FC236}">
                <a16:creationId xmlns:a16="http://schemas.microsoft.com/office/drawing/2014/main" id="{BADBC87A-0E74-0E06-C3DE-867A813C32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2895600"/>
            <a:ext cx="3962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9354" name="Text Box 26">
            <a:extLst>
              <a:ext uri="{FF2B5EF4-FFF2-40B4-BE49-F238E27FC236}">
                <a16:creationId xmlns:a16="http://schemas.microsoft.com/office/drawing/2014/main" id="{5F8C5423-96AA-974B-F928-63AF3E378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5638800"/>
            <a:ext cx="762000" cy="5286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800">
                <a:latin typeface="Symbol" pitchFamily="2" charset="2"/>
              </a:rPr>
              <a:t>s</a:t>
            </a:r>
            <a:r>
              <a:rPr lang="it-IT" altLang="it-IT" sz="2800" baseline="-25000"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99355" name="Text Box 27">
            <a:extLst>
              <a:ext uri="{FF2B5EF4-FFF2-40B4-BE49-F238E27FC236}">
                <a16:creationId xmlns:a16="http://schemas.microsoft.com/office/drawing/2014/main" id="{F3FCAD8A-5B61-7DB7-D4CA-251DCA7F0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528888"/>
            <a:ext cx="609600" cy="5286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800" i="1">
                <a:latin typeface="Times New Roman" panose="02020603050405020304" pitchFamily="18" charset="0"/>
              </a:rPr>
              <a:t>r</a:t>
            </a:r>
            <a:r>
              <a:rPr lang="it-IT" altLang="it-IT" sz="2800" baseline="-25000">
                <a:latin typeface="Times New Roman" panose="02020603050405020304" pitchFamily="18" charset="0"/>
              </a:rPr>
              <a:t>M</a:t>
            </a:r>
          </a:p>
        </p:txBody>
      </p:sp>
      <p:graphicFrame>
        <p:nvGraphicFramePr>
          <p:cNvPr id="99358" name="Object 30">
            <a:extLst>
              <a:ext uri="{FF2B5EF4-FFF2-40B4-BE49-F238E27FC236}">
                <a16:creationId xmlns:a16="http://schemas.microsoft.com/office/drawing/2014/main" id="{6DD4FDD1-9DEA-BC15-A8A9-88D9D53247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0050" y="3803650"/>
          <a:ext cx="4186238" cy="153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203400" imgH="9944100" progId="Equation.3">
                  <p:embed/>
                </p:oleObj>
              </mc:Choice>
              <mc:Fallback>
                <p:oleObj name="Equation" r:id="rId4" imgW="27203400" imgH="99441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0050" y="3803650"/>
                        <a:ext cx="4186238" cy="15303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59" name="Line 31">
            <a:extLst>
              <a:ext uri="{FF2B5EF4-FFF2-40B4-BE49-F238E27FC236}">
                <a16:creationId xmlns:a16="http://schemas.microsoft.com/office/drawing/2014/main" id="{45CDB292-EC6C-562E-D444-A5961D0469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572000"/>
            <a:ext cx="2286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ransition spd="med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9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99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99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99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99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99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99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99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99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9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1" dur="500"/>
                                        <p:tgtEl>
                                          <p:spTgt spid="99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4" dur="500"/>
                                        <p:tgtEl>
                                          <p:spTgt spid="993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99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0"/>
                                        <p:tgtEl>
                                          <p:spTgt spid="99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0"/>
                                        <p:tgtEl>
                                          <p:spTgt spid="99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0"/>
                                        <p:tgtEl>
                                          <p:spTgt spid="99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000"/>
                                        <p:tgtEl>
                                          <p:spTgt spid="99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00"/>
                                        <p:tgtEl>
                                          <p:spTgt spid="99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00"/>
                                        <p:tgtEl>
                                          <p:spTgt spid="99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99334" grpId="0"/>
      <p:bldP spid="99345" grpId="0" animBg="1"/>
      <p:bldP spid="99345" grpId="1" animBg="1"/>
      <p:bldP spid="99341" grpId="0" animBg="1"/>
      <p:bldP spid="99348" grpId="0" animBg="1"/>
      <p:bldP spid="99354" grpId="0" animBg="1"/>
      <p:bldP spid="9935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AA7D60BD-AF47-7039-E197-0AA5F60F28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15962"/>
          </a:xfrm>
        </p:spPr>
        <p:txBody>
          <a:bodyPr/>
          <a:lstStyle/>
          <a:p>
            <a:r>
              <a:rPr lang="it-IT" altLang="it-IT"/>
              <a:t>Indice di Sharpe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7E88C979-83BC-FEE9-A2E5-B3F0489FB0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it-IT" altLang="it-IT" sz="2600">
                <a:latin typeface="Times New Roman" panose="02020603050405020304" pitchFamily="18" charset="0"/>
              </a:rPr>
              <a:t>L’indice di Sharpe è utilizzato anche per valutare l’efficienza di portafogli di titoli (Fondi Comuni, ETF,…)</a:t>
            </a:r>
          </a:p>
          <a:p>
            <a:pPr>
              <a:lnSpc>
                <a:spcPct val="90000"/>
              </a:lnSpc>
            </a:pPr>
            <a:r>
              <a:rPr lang="it-IT" altLang="it-IT" sz="2600">
                <a:latin typeface="Times New Roman" panose="02020603050405020304" pitchFamily="18" charset="0"/>
              </a:rPr>
              <a:t>La formula rimane la stessa, per un portafoglio con rendimento atteso </a:t>
            </a:r>
            <a:r>
              <a:rPr lang="it-IT" altLang="it-IT" sz="2600" i="1">
                <a:latin typeface="Times New Roman" panose="02020603050405020304" pitchFamily="18" charset="0"/>
              </a:rPr>
              <a:t>r</a:t>
            </a:r>
            <a:r>
              <a:rPr lang="it-IT" altLang="it-IT" sz="2600" i="1" baseline="-25000">
                <a:latin typeface="Times New Roman" panose="02020603050405020304" pitchFamily="18" charset="0"/>
              </a:rPr>
              <a:t>P</a:t>
            </a:r>
            <a:r>
              <a:rPr lang="it-IT" altLang="it-IT" sz="2600">
                <a:latin typeface="Times New Roman" panose="02020603050405020304" pitchFamily="18" charset="0"/>
              </a:rPr>
              <a:t> e deviazione standard </a:t>
            </a:r>
            <a:r>
              <a:rPr lang="it-IT" altLang="it-IT" sz="2600" i="1">
                <a:latin typeface="Times New Roman" panose="02020603050405020304" pitchFamily="18" charset="0"/>
                <a:sym typeface="Symbol" pitchFamily="2" charset="2"/>
              </a:rPr>
              <a:t></a:t>
            </a:r>
            <a:r>
              <a:rPr lang="it-IT" altLang="it-IT" sz="2600" i="1" baseline="-25000">
                <a:latin typeface="Times New Roman" panose="02020603050405020304" pitchFamily="18" charset="0"/>
              </a:rPr>
              <a:t>P</a:t>
            </a:r>
          </a:p>
          <a:p>
            <a:pPr>
              <a:lnSpc>
                <a:spcPct val="90000"/>
              </a:lnSpc>
            </a:pPr>
            <a:endParaRPr lang="it-IT" altLang="it-IT" sz="2600" i="1" baseline="-2500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it-IT" altLang="it-IT" sz="2600" i="1" baseline="-2500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it-IT" altLang="it-IT" sz="2600" i="1" baseline="-2500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it-IT" altLang="it-IT" sz="2600" i="1" baseline="-2500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it-IT" altLang="it-IT" sz="2600">
                <a:latin typeface="Times New Roman" panose="02020603050405020304" pitchFamily="18" charset="0"/>
              </a:rPr>
              <a:t>Maggiore è l’indice di Sharpe, maggiore è l’efficienza del portafoglio</a:t>
            </a:r>
          </a:p>
          <a:p>
            <a:pPr>
              <a:lnSpc>
                <a:spcPct val="90000"/>
              </a:lnSpc>
            </a:pPr>
            <a:r>
              <a:rPr lang="it-IT" altLang="it-IT" sz="2600">
                <a:latin typeface="Times New Roman" panose="02020603050405020304" pitchFamily="18" charset="0"/>
              </a:rPr>
              <a:t>Come benchmark può essere utilizzato l’indice di Sharpe calcolato sull’indice di riferimento: Az.Italia </a:t>
            </a:r>
            <a:r>
              <a:rPr lang="it-IT" altLang="it-IT" sz="260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it-IT" altLang="it-IT" sz="2600">
                <a:latin typeface="Times New Roman" panose="02020603050405020304" pitchFamily="18" charset="0"/>
              </a:rPr>
              <a:t> S&amp;P Mib</a:t>
            </a:r>
          </a:p>
        </p:txBody>
      </p:sp>
      <p:graphicFrame>
        <p:nvGraphicFramePr>
          <p:cNvPr id="101380" name="Object 4">
            <a:extLst>
              <a:ext uri="{FF2B5EF4-FFF2-40B4-BE49-F238E27FC236}">
                <a16:creationId xmlns:a16="http://schemas.microsoft.com/office/drawing/2014/main" id="{24887680-82B6-9B03-202E-2A7860DC4D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54313" y="3352800"/>
          <a:ext cx="2873375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742900" imgH="9944100" progId="Equation.3">
                  <p:embed/>
                </p:oleObj>
              </mc:Choice>
              <mc:Fallback>
                <p:oleObj name="Equation" r:id="rId2" imgW="25742900" imgH="9944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4313" y="3352800"/>
                        <a:ext cx="2873375" cy="11096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0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Rete">
  <a:themeElements>
    <a:clrScheme name="Rete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Re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Rete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te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1389</TotalTime>
  <Words>1088</Words>
  <Application>Microsoft Macintosh PowerPoint</Application>
  <PresentationFormat>Presentazione su schermo (4:3)</PresentationFormat>
  <Paragraphs>182</Paragraphs>
  <Slides>24</Slides>
  <Notes>1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3</vt:i4>
      </vt:variant>
      <vt:variant>
        <vt:lpstr>Titoli diapositive</vt:lpstr>
      </vt:variant>
      <vt:variant>
        <vt:i4>24</vt:i4>
      </vt:variant>
    </vt:vector>
  </HeadingPairs>
  <TitlesOfParts>
    <vt:vector size="32" baseType="lpstr">
      <vt:lpstr>Arial</vt:lpstr>
      <vt:lpstr>Symbol</vt:lpstr>
      <vt:lpstr>Times New Roman</vt:lpstr>
      <vt:lpstr>Wingdings</vt:lpstr>
      <vt:lpstr>Rete</vt:lpstr>
      <vt:lpstr>Grafico</vt:lpstr>
      <vt:lpstr>Equation</vt:lpstr>
      <vt:lpstr>Immagine bitmap</vt:lpstr>
      <vt:lpstr>Asset allocation razionale</vt:lpstr>
      <vt:lpstr>H. Markowitz (Nobel Economia 1990)</vt:lpstr>
      <vt:lpstr>Obiettivi di un Investimento</vt:lpstr>
      <vt:lpstr>Piano rischio-rendimento</vt:lpstr>
      <vt:lpstr>Preferenze rischio-rendimento</vt:lpstr>
      <vt:lpstr>Rischio-Rendimento</vt:lpstr>
      <vt:lpstr>Rendimento di portafoglio</vt:lpstr>
      <vt:lpstr>Rischio di portafoglio</vt:lpstr>
      <vt:lpstr>Correlazione</vt:lpstr>
      <vt:lpstr>Diversificazione</vt:lpstr>
      <vt:lpstr>Portafoglio</vt:lpstr>
      <vt:lpstr>Frontiera efficiente</vt:lpstr>
      <vt:lpstr>Esigenze dell’investitore</vt:lpstr>
      <vt:lpstr>Portafoglio con tre titoli</vt:lpstr>
      <vt:lpstr>Soluzione numerica</vt:lpstr>
      <vt:lpstr>Risolutore Excel</vt:lpstr>
      <vt:lpstr>Impostare il risolutore</vt:lpstr>
      <vt:lpstr>Rendimento e rischio</vt:lpstr>
      <vt:lpstr>Impostare il risolutore</vt:lpstr>
      <vt:lpstr>Vincoli</vt:lpstr>
      <vt:lpstr>Soluzione</vt:lpstr>
      <vt:lpstr>Frontiera efficiente</vt:lpstr>
      <vt:lpstr>Titolo non rischioso</vt:lpstr>
      <vt:lpstr>Indice di Sharpe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Asset allocation razionale</dc:title>
  <dc:creator>Luca</dc:creator>
  <cp:lastModifiedBy>Luca Grosset</cp:lastModifiedBy>
  <cp:revision>448</cp:revision>
  <dcterms:created xsi:type="dcterms:W3CDTF">2009-03-19T13:44:13Z</dcterms:created>
  <dcterms:modified xsi:type="dcterms:W3CDTF">2025-02-21T07:47:45Z</dcterms:modified>
</cp:coreProperties>
</file>